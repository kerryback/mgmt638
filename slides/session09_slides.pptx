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325891"/>
            <a:ext cx="5334009" cy="5657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500"/>
              </a:lnSpc>
              <a:buNone/>
            </a:pPr>
            <a:r>
              <a:rPr lang="en-US" sz="3731" b="1" dirty="0">
                <a:solidFill>
                  <a:srgbClr val="1A237E"/>
                </a:solidFill>
              </a:rPr>
              <a:t>MGMT 638</a:t>
            </a:r>
            <a:endParaRPr lang="en-US" sz="3731" dirty="0"/>
          </a:p>
        </p:txBody>
      </p:sp>
      <p:sp>
        <p:nvSpPr>
          <p:cNvPr id="4" name="Text 1"/>
          <p:cNvSpPr/>
          <p:nvPr/>
        </p:nvSpPr>
        <p:spPr>
          <a:xfrm>
            <a:off x="571500" y="2034546"/>
            <a:ext cx="5334009" cy="66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8" b="1" dirty="0">
                <a:solidFill>
                  <a:srgbClr val="00897B"/>
                </a:solidFill>
              </a:rPr>
              <a:t>Session 9: Asset Pricing and Machine Learning</a:t>
            </a:r>
            <a:endParaRPr lang="en-US" sz="1808" dirty="0"/>
          </a:p>
        </p:txBody>
      </p:sp>
      <p:sp>
        <p:nvSpPr>
          <p:cNvPr id="5" name="Text 2"/>
          <p:cNvSpPr/>
          <p:nvPr/>
        </p:nvSpPr>
        <p:spPr>
          <a:xfrm>
            <a:off x="571500" y="3283586"/>
            <a:ext cx="75068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263238"/>
                </a:solidFill>
              </a:rPr>
              <a:t>Kerry Back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571500" y="3546118"/>
            <a:ext cx="533400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263238"/>
                </a:solidFill>
              </a:rPr>
              <a:t>Fall 2025</a:t>
            </a:r>
            <a:endParaRPr lang="en-US" sz="98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016" b="1" dirty="0">
                <a:solidFill>
                  <a:srgbClr val="1A237E"/>
                </a:solidFill>
              </a:rPr>
              <a:t>Session Agenda: A Deep Dive into Predictive Modeling</a:t>
            </a:r>
            <a:endParaRPr lang="en-US" sz="2016" dirty="0"/>
          </a:p>
        </p:txBody>
      </p:sp>
      <p:sp>
        <p:nvSpPr>
          <p:cNvPr id="4" name="Shape 1"/>
          <p:cNvSpPr/>
          <p:nvPr/>
        </p:nvSpPr>
        <p:spPr>
          <a:xfrm>
            <a:off x="428625" y="1214438"/>
            <a:ext cx="357188" cy="35718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1214438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1</a:t>
            </a:r>
            <a:endParaRPr lang="en-US" sz="1090" dirty="0"/>
          </a:p>
        </p:txBody>
      </p:sp>
      <p:sp>
        <p:nvSpPr>
          <p:cNvPr id="6" name="Text 3"/>
          <p:cNvSpPr/>
          <p:nvPr/>
        </p:nvSpPr>
        <p:spPr>
          <a:xfrm>
            <a:off x="928688" y="1214438"/>
            <a:ext cx="3806782" cy="257175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263238"/>
                </a:solidFill>
              </a:rPr>
              <a:t>Data and Code Pipeline: data4 files, scripts, and outputs</a:t>
            </a:r>
            <a:endParaRPr lang="en-US" sz="987" dirty="0"/>
          </a:p>
        </p:txBody>
      </p:sp>
      <p:sp>
        <p:nvSpPr>
          <p:cNvPr id="7" name="Shape 4"/>
          <p:cNvSpPr/>
          <p:nvPr/>
        </p:nvSpPr>
        <p:spPr>
          <a:xfrm>
            <a:off x="428625" y="1743075"/>
            <a:ext cx="357188" cy="35718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8" name="Text 5"/>
          <p:cNvSpPr/>
          <p:nvPr/>
        </p:nvSpPr>
        <p:spPr>
          <a:xfrm>
            <a:off x="428625" y="1743075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2</a:t>
            </a:r>
            <a:endParaRPr lang="en-US" sz="1090" dirty="0"/>
          </a:p>
        </p:txBody>
      </p:sp>
      <p:sp>
        <p:nvSpPr>
          <p:cNvPr id="9" name="Text 6"/>
          <p:cNvSpPr/>
          <p:nvPr/>
        </p:nvSpPr>
        <p:spPr>
          <a:xfrm>
            <a:off x="928688" y="1743075"/>
            <a:ext cx="2870811" cy="257175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263238"/>
                </a:solidFill>
              </a:rPr>
              <a:t>Foundational Research: Gu-Kelly-Xiu, 2020</a:t>
            </a:r>
            <a:endParaRPr lang="en-US" sz="987" dirty="0"/>
          </a:p>
        </p:txBody>
      </p:sp>
      <p:sp>
        <p:nvSpPr>
          <p:cNvPr id="10" name="Shape 7"/>
          <p:cNvSpPr/>
          <p:nvPr/>
        </p:nvSpPr>
        <p:spPr>
          <a:xfrm>
            <a:off x="428625" y="2271713"/>
            <a:ext cx="357188" cy="357188"/>
          </a:xfrm>
          <a:prstGeom prst="rect">
            <a:avLst/>
          </a:prstGeom>
          <a:solidFill>
            <a:srgbClr val="D84315"/>
          </a:solidFill>
          <a:ln/>
        </p:spPr>
      </p:sp>
      <p:sp>
        <p:nvSpPr>
          <p:cNvPr id="11" name="Text 8"/>
          <p:cNvSpPr/>
          <p:nvPr/>
        </p:nvSpPr>
        <p:spPr>
          <a:xfrm>
            <a:off x="428625" y="2271713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3</a:t>
            </a:r>
            <a:endParaRPr lang="en-US" sz="1090" dirty="0"/>
          </a:p>
        </p:txBody>
      </p:sp>
      <p:sp>
        <p:nvSpPr>
          <p:cNvPr id="12" name="Text 9"/>
          <p:cNvSpPr/>
          <p:nvPr/>
        </p:nvSpPr>
        <p:spPr>
          <a:xfrm>
            <a:off x="928688" y="2271713"/>
            <a:ext cx="2098560" cy="257175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263238"/>
                </a:solidFill>
              </a:rPr>
              <a:t>Data Creation: create_data4.py</a:t>
            </a:r>
            <a:endParaRPr lang="en-US" sz="987" dirty="0"/>
          </a:p>
        </p:txBody>
      </p:sp>
      <p:sp>
        <p:nvSpPr>
          <p:cNvPr id="13" name="Shape 10"/>
          <p:cNvSpPr/>
          <p:nvPr/>
        </p:nvSpPr>
        <p:spPr>
          <a:xfrm>
            <a:off x="428625" y="2800350"/>
            <a:ext cx="357188" cy="35718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4" name="Text 11"/>
          <p:cNvSpPr/>
          <p:nvPr/>
        </p:nvSpPr>
        <p:spPr>
          <a:xfrm>
            <a:off x="428625" y="2800350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4</a:t>
            </a:r>
            <a:endParaRPr lang="en-US" sz="1090" dirty="0"/>
          </a:p>
        </p:txBody>
      </p:sp>
      <p:sp>
        <p:nvSpPr>
          <p:cNvPr id="15" name="Text 12"/>
          <p:cNvSpPr/>
          <p:nvPr/>
        </p:nvSpPr>
        <p:spPr>
          <a:xfrm>
            <a:off x="928688" y="2800350"/>
            <a:ext cx="4903626" cy="257175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263238"/>
                </a:solidFill>
              </a:rPr>
              <a:t>Model Training and Prediction: train_predict_data4.py (Rolling Windows)</a:t>
            </a:r>
            <a:endParaRPr lang="en-US" sz="987" dirty="0"/>
          </a:p>
        </p:txBody>
      </p:sp>
      <p:sp>
        <p:nvSpPr>
          <p:cNvPr id="16" name="Shape 13"/>
          <p:cNvSpPr/>
          <p:nvPr/>
        </p:nvSpPr>
        <p:spPr>
          <a:xfrm>
            <a:off x="428625" y="3328988"/>
            <a:ext cx="357188" cy="357188"/>
          </a:xfrm>
          <a:prstGeom prst="rect">
            <a:avLst/>
          </a:prstGeom>
          <a:solidFill>
            <a:srgbClr val="D84315"/>
          </a:solidFill>
          <a:ln/>
        </p:spPr>
      </p:sp>
      <p:sp>
        <p:nvSpPr>
          <p:cNvPr id="17" name="Text 14"/>
          <p:cNvSpPr/>
          <p:nvPr/>
        </p:nvSpPr>
        <p:spPr>
          <a:xfrm>
            <a:off x="428625" y="3328988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5</a:t>
            </a:r>
            <a:endParaRPr lang="en-US" sz="1090" dirty="0"/>
          </a:p>
        </p:txBody>
      </p:sp>
      <p:sp>
        <p:nvSpPr>
          <p:cNvPr id="18" name="Text 15"/>
          <p:cNvSpPr/>
          <p:nvPr/>
        </p:nvSpPr>
        <p:spPr>
          <a:xfrm>
            <a:off x="928688" y="3328988"/>
            <a:ext cx="4057092" cy="257175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263238"/>
                </a:solidFill>
              </a:rPr>
              <a:t>Current Model Output: data4_current.xlsx, data4_model.pkl</a:t>
            </a:r>
            <a:endParaRPr lang="en-US" sz="987" dirty="0"/>
          </a:p>
        </p:txBody>
      </p:sp>
      <p:sp>
        <p:nvSpPr>
          <p:cNvPr id="19" name="Shape 16"/>
          <p:cNvSpPr/>
          <p:nvPr/>
        </p:nvSpPr>
        <p:spPr>
          <a:xfrm>
            <a:off x="428625" y="3857625"/>
            <a:ext cx="357188" cy="35718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0" name="Text 17"/>
          <p:cNvSpPr/>
          <p:nvPr/>
        </p:nvSpPr>
        <p:spPr>
          <a:xfrm>
            <a:off x="428625" y="3857625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6</a:t>
            </a:r>
            <a:endParaRPr lang="en-US" sz="1090" dirty="0"/>
          </a:p>
        </p:txBody>
      </p:sp>
      <p:sp>
        <p:nvSpPr>
          <p:cNvPr id="21" name="Text 18"/>
          <p:cNvSpPr/>
          <p:nvPr/>
        </p:nvSpPr>
        <p:spPr>
          <a:xfrm>
            <a:off x="928688" y="3857625"/>
            <a:ext cx="4565582" cy="257175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263238"/>
                </a:solidFill>
              </a:rPr>
              <a:t>Performance Analysis: analyze_portfolios.ipynb (Historical Returns)</a:t>
            </a:r>
            <a:endParaRPr lang="en-US" sz="987" dirty="0"/>
          </a:p>
        </p:txBody>
      </p:sp>
      <p:sp>
        <p:nvSpPr>
          <p:cNvPr id="22" name="Shape 19"/>
          <p:cNvSpPr/>
          <p:nvPr/>
        </p:nvSpPr>
        <p:spPr>
          <a:xfrm>
            <a:off x="428625" y="4386263"/>
            <a:ext cx="357188" cy="357188"/>
          </a:xfrm>
          <a:prstGeom prst="rect">
            <a:avLst/>
          </a:prstGeom>
          <a:solidFill>
            <a:srgbClr val="D84315"/>
          </a:solidFill>
          <a:ln/>
        </p:spPr>
      </p:sp>
      <p:sp>
        <p:nvSpPr>
          <p:cNvPr id="23" name="Text 20"/>
          <p:cNvSpPr/>
          <p:nvPr/>
        </p:nvSpPr>
        <p:spPr>
          <a:xfrm>
            <a:off x="428625" y="4386263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7</a:t>
            </a:r>
            <a:endParaRPr lang="en-US" sz="1090" dirty="0"/>
          </a:p>
        </p:txBody>
      </p:sp>
      <p:sp>
        <p:nvSpPr>
          <p:cNvPr id="24" name="Text 21"/>
          <p:cNvSpPr/>
          <p:nvPr/>
        </p:nvSpPr>
        <p:spPr>
          <a:xfrm>
            <a:off x="928688" y="4386263"/>
            <a:ext cx="4816897" cy="257175"/>
          </a:xfrm>
          <a:prstGeom prst="rect">
            <a:avLst/>
          </a:prstGeom>
          <a:noFill/>
          <a:ln/>
        </p:spPr>
        <p:txBody>
          <a:bodyPr wrap="none" lIns="0" tIns="68072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87" b="1" dirty="0">
                <a:solidFill>
                  <a:srgbClr val="263238"/>
                </a:solidFill>
              </a:rPr>
              <a:t>Model Interpretation: analyze_model_features.ipynb (Feature Analysis)</a:t>
            </a:r>
            <a:endParaRPr lang="en-US" sz="98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755117"/>
            <a:ext cx="5089922" cy="66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8" b="1" dirty="0">
                <a:solidFill>
                  <a:srgbClr val="1A237E"/>
                </a:solidFill>
              </a:rPr>
              <a:t>Foundational Research: Asset Pricing and Machine Learning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428625" y="1709477"/>
            <a:ext cx="5089922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i="1" dirty="0">
                <a:solidFill>
                  <a:srgbClr val="00897B"/>
                </a:solidFill>
              </a:rPr>
              <a:t>Asset Pricing and Machine Learning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428625" y="2080952"/>
            <a:ext cx="508992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63238"/>
                </a:solidFill>
              </a:rPr>
              <a:t>Authors:</a:t>
            </a:r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63238"/>
                </a:solidFill>
              </a:rPr>
              <a:t> Gu, Kelly, and Xiu</a:t>
            </a: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428625" y="2359558"/>
            <a:ext cx="508992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63238"/>
                </a:solidFill>
              </a:rPr>
              <a:t>Year:</a:t>
            </a:r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63238"/>
                </a:solidFill>
              </a:rPr>
              <a:t> 2020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428625" y="2638165"/>
            <a:ext cx="508992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63238"/>
                </a:solidFill>
              </a:rPr>
              <a:t>Source:</a:t>
            </a:r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63238"/>
                </a:solidFill>
              </a:rPr>
              <a:t> Review of Financial Studies (RFS)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428625" y="3352540"/>
            <a:ext cx="508992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237E"/>
                </a:solidFill>
              </a:rPr>
              <a:t>Resources: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428625" y="3659721"/>
            <a:ext cx="508992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897B"/>
                </a:solidFill>
              </a:rPr>
              <a:t>📄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897B"/>
                </a:solidFill>
              </a:rPr>
              <a:t>PDF: Gu_Kelly_Xiu_RFS_2020.pdf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428625" y="3902608"/>
            <a:ext cx="508992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897B"/>
                </a:solidFill>
              </a:rPr>
              <a:t>🎥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897B"/>
                </a:solidFill>
              </a:rPr>
              <a:t>Video: Gu_Kelly_Xiu_RFS_2020.pdf.mp4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428625" y="4145496"/>
            <a:ext cx="508992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897B"/>
                </a:solidFill>
              </a:rPr>
              <a:t>📚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897B"/>
                </a:solidFill>
              </a:rPr>
              <a:t>NotebookLM Reference</a:t>
            </a:r>
            <a:endParaRPr lang="en-US" sz="784" dirty="0"/>
          </a:p>
        </p:txBody>
      </p:sp>
      <p:sp>
        <p:nvSpPr>
          <p:cNvPr id="12" name="Shape 9"/>
          <p:cNvSpPr/>
          <p:nvPr/>
        </p:nvSpPr>
        <p:spPr>
          <a:xfrm>
            <a:off x="5973961" y="1214438"/>
            <a:ext cx="2714625" cy="2714625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3961" y="1214438"/>
            <a:ext cx="2714625" cy="27146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3343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8" b="1" dirty="0">
                <a:solidFill>
                  <a:srgbClr val="1A237E"/>
                </a:solidFill>
              </a:rPr>
              <a:t>Data Overview: data4.parquet - A Comprehensive Panel Dataset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428625" y="1048680"/>
            <a:ext cx="82867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263238"/>
                </a:solidFill>
              </a:rPr>
              <a:t>Purpose:</a:t>
            </a:r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263238"/>
                </a:solidFill>
              </a:rPr>
              <a:t> Monthly panel dataset for predicting stock returns with comprehensive coverage of price data, fundamental </a:t>
            </a:r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263238"/>
                </a:solidFill>
              </a:rPr>
              <a:t>accounting metrics, and stock classifications.</a:t>
            </a:r>
            <a:endParaRPr lang="en-US" sz="987" dirty="0"/>
          </a:p>
        </p:txBody>
      </p:sp>
      <p:sp>
        <p:nvSpPr>
          <p:cNvPr id="5" name="Text 2"/>
          <p:cNvSpPr/>
          <p:nvPr/>
        </p:nvSpPr>
        <p:spPr>
          <a:xfrm>
            <a:off x="614363" y="1720193"/>
            <a:ext cx="387191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1A237E"/>
                </a:solidFill>
              </a:rPr>
              <a:t>591,892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614363" y="2005943"/>
            <a:ext cx="38719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63238"/>
                </a:solidFill>
              </a:rPr>
              <a:t>Stock-Month Observations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4843463" y="1720193"/>
            <a:ext cx="387191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1A237E"/>
                </a:solidFill>
              </a:rPr>
              <a:t>4,851</a:t>
            </a:r>
            <a:endParaRPr lang="en-US" sz="1193" dirty="0"/>
          </a:p>
        </p:txBody>
      </p:sp>
      <p:sp>
        <p:nvSpPr>
          <p:cNvPr id="8" name="Text 5"/>
          <p:cNvSpPr/>
          <p:nvPr/>
        </p:nvSpPr>
        <p:spPr>
          <a:xfrm>
            <a:off x="4843463" y="2005943"/>
            <a:ext cx="38719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63238"/>
                </a:solidFill>
              </a:rPr>
              <a:t>Unique Tickers (incl. delisted)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614363" y="2463143"/>
            <a:ext cx="387191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1A237E"/>
                </a:solidFill>
              </a:rPr>
              <a:t>Feb 2011 – Nov 2025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614363" y="2748893"/>
            <a:ext cx="38719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63238"/>
                </a:solidFill>
              </a:rPr>
              <a:t>Time Period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4843463" y="2463143"/>
            <a:ext cx="3871913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1A237E"/>
                </a:solidFill>
              </a:rPr>
              <a:t>15 Years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4843463" y="2748893"/>
            <a:ext cx="387191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63238"/>
                </a:solidFill>
              </a:rPr>
              <a:t>Historical Coverage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428625" y="3548993"/>
            <a:ext cx="8286750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237E"/>
                </a:solidFill>
              </a:rPr>
              <a:t>Dataset Components: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428625" y="3856174"/>
            <a:ext cx="828675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63238"/>
                </a:solidFill>
              </a:rPr>
              <a:t>✓ Price Data: Closing prices, market capitalization, price-to-book ratios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428625" y="4107628"/>
            <a:ext cx="828675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63238"/>
                </a:solidFill>
              </a:rPr>
              <a:t>✓ Fundamentals: Asset growth, ROE, gross margins, leverage ratios from 10-K filings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428625" y="4359083"/>
            <a:ext cx="8286750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63238"/>
                </a:solidFill>
              </a:rPr>
              <a:t>✓ Classifications: Sector, industry, and market cap-based size categories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428625" y="4610537"/>
            <a:ext cx="8286750" cy="194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63238"/>
                </a:solidFill>
              </a:rPr>
              <a:t>✓ Created by: </a:t>
            </a:r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63238"/>
                </a:solidFill>
              </a:rPr>
              <a:t>create_data4.py</a:t>
            </a:r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63238"/>
                </a:solidFill>
              </a:rPr>
              <a:t> (template for similar datasets)</a:t>
            </a:r>
            <a:endParaRPr lang="en-US" sz="88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016" b="1" dirty="0">
                <a:solidFill>
                  <a:srgbClr val="1A237E"/>
                </a:solidFill>
              </a:rPr>
              <a:t>Data Variables (Part 1): Returns and Price Data</a:t>
            </a:r>
            <a:endParaRPr lang="en-US" sz="2016" dirty="0"/>
          </a:p>
        </p:txBody>
      </p:sp>
      <p:sp>
        <p:nvSpPr>
          <p:cNvPr id="4" name="Text 1"/>
          <p:cNvSpPr/>
          <p:nvPr/>
        </p:nvSpPr>
        <p:spPr>
          <a:xfrm>
            <a:off x="585788" y="1228725"/>
            <a:ext cx="1990037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1A237E"/>
                </a:solidFill>
              </a:rPr>
              <a:t>Identifiers and Returns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585788" y="1671638"/>
            <a:ext cx="1285875" cy="192881"/>
          </a:xfrm>
          <a:prstGeom prst="rect">
            <a:avLst/>
          </a:prstGeom>
          <a:noFill/>
          <a:ln/>
        </p:spPr>
        <p:txBody>
          <a:bodyPr wrap="none" lIns="0" tIns="0" rIns="170053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897B"/>
                </a:solidFill>
              </a:rPr>
              <a:t>ticker</a:t>
            </a:r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897B"/>
                </a:solidFill>
              </a:rPr>
              <a:t>, </a:t>
            </a:r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897B"/>
                </a:solidFill>
              </a:rPr>
              <a:t>month</a:t>
            </a: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1871663" y="1671638"/>
            <a:ext cx="190361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263238"/>
                </a:solidFill>
              </a:rPr>
              <a:t>Stock identifier and time period</a:t>
            </a:r>
            <a:endParaRPr lang="en-US" sz="942" dirty="0"/>
          </a:p>
        </p:txBody>
      </p:sp>
      <p:sp>
        <p:nvSpPr>
          <p:cNvPr id="7" name="Shape 4"/>
          <p:cNvSpPr/>
          <p:nvPr/>
        </p:nvSpPr>
        <p:spPr>
          <a:xfrm>
            <a:off x="585788" y="1987748"/>
            <a:ext cx="488091" cy="203597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8" name="Text 5"/>
          <p:cNvSpPr/>
          <p:nvPr/>
        </p:nvSpPr>
        <p:spPr>
          <a:xfrm>
            <a:off x="585788" y="1987748"/>
            <a:ext cx="488091" cy="203597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897B"/>
                </a:solidFill>
              </a:rPr>
              <a:t>return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1871663" y="1993106"/>
            <a:ext cx="149614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263238"/>
                </a:solidFill>
              </a:rPr>
              <a:t>Monthly return (decimal)</a:t>
            </a:r>
            <a:endParaRPr lang="en-US" sz="942" dirty="0"/>
          </a:p>
        </p:txBody>
      </p:sp>
      <p:sp>
        <p:nvSpPr>
          <p:cNvPr id="10" name="Shape 7"/>
          <p:cNvSpPr/>
          <p:nvPr/>
        </p:nvSpPr>
        <p:spPr>
          <a:xfrm>
            <a:off x="585788" y="2309217"/>
            <a:ext cx="828591" cy="203597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1" name="Text 8"/>
          <p:cNvSpPr/>
          <p:nvPr/>
        </p:nvSpPr>
        <p:spPr>
          <a:xfrm>
            <a:off x="585788" y="2309217"/>
            <a:ext cx="828591" cy="203597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897B"/>
                </a:solidFill>
              </a:rPr>
              <a:t>momentum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1871663" y="2314575"/>
            <a:ext cx="301282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263238"/>
                </a:solidFill>
              </a:rPr>
              <a:t>12-month return, skipping the most recent month</a:t>
            </a:r>
            <a:endParaRPr lang="en-US" sz="942" dirty="0"/>
          </a:p>
        </p:txBody>
      </p:sp>
      <p:sp>
        <p:nvSpPr>
          <p:cNvPr id="13" name="Shape 10"/>
          <p:cNvSpPr/>
          <p:nvPr/>
        </p:nvSpPr>
        <p:spPr>
          <a:xfrm>
            <a:off x="585788" y="2630686"/>
            <a:ext cx="971187" cy="203597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4" name="Text 11"/>
          <p:cNvSpPr/>
          <p:nvPr/>
        </p:nvSpPr>
        <p:spPr>
          <a:xfrm>
            <a:off x="585788" y="2630686"/>
            <a:ext cx="971187" cy="203597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897B"/>
                </a:solidFill>
              </a:rPr>
              <a:t>lagged_return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1871663" y="2636044"/>
            <a:ext cx="123212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263238"/>
                </a:solidFill>
              </a:rPr>
              <a:t>Prior month's return</a:t>
            </a:r>
            <a:endParaRPr lang="en-US" sz="942" dirty="0"/>
          </a:p>
        </p:txBody>
      </p:sp>
      <p:sp>
        <p:nvSpPr>
          <p:cNvPr id="16" name="Text 13"/>
          <p:cNvSpPr/>
          <p:nvPr/>
        </p:nvSpPr>
        <p:spPr>
          <a:xfrm>
            <a:off x="585788" y="3128963"/>
            <a:ext cx="2685604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1A237E"/>
                </a:solidFill>
              </a:rPr>
              <a:t>Price Data (End-of-Prior-Month)</a:t>
            </a:r>
            <a:endParaRPr lang="en-US" sz="1193" dirty="0"/>
          </a:p>
        </p:txBody>
      </p:sp>
      <p:sp>
        <p:nvSpPr>
          <p:cNvPr id="17" name="Shape 14"/>
          <p:cNvSpPr/>
          <p:nvPr/>
        </p:nvSpPr>
        <p:spPr>
          <a:xfrm>
            <a:off x="585788" y="3566517"/>
            <a:ext cx="403733" cy="203597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8" name="Text 15"/>
          <p:cNvSpPr/>
          <p:nvPr/>
        </p:nvSpPr>
        <p:spPr>
          <a:xfrm>
            <a:off x="585788" y="3566517"/>
            <a:ext cx="403733" cy="203597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D84315"/>
                </a:solidFill>
              </a:rPr>
              <a:t>close</a:t>
            </a:r>
            <a:endParaRPr lang="en-US" sz="885" dirty="0"/>
          </a:p>
        </p:txBody>
      </p:sp>
      <p:sp>
        <p:nvSpPr>
          <p:cNvPr id="19" name="Text 16"/>
          <p:cNvSpPr/>
          <p:nvPr/>
        </p:nvSpPr>
        <p:spPr>
          <a:xfrm>
            <a:off x="1871663" y="3571875"/>
            <a:ext cx="77861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263238"/>
                </a:solidFill>
              </a:rPr>
              <a:t>Closing price</a:t>
            </a:r>
            <a:endParaRPr lang="en-US" sz="942" dirty="0"/>
          </a:p>
        </p:txBody>
      </p:sp>
      <p:sp>
        <p:nvSpPr>
          <p:cNvPr id="20" name="Shape 17"/>
          <p:cNvSpPr/>
          <p:nvPr/>
        </p:nvSpPr>
        <p:spPr>
          <a:xfrm>
            <a:off x="585788" y="3887986"/>
            <a:ext cx="764800" cy="203597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1" name="Text 18"/>
          <p:cNvSpPr/>
          <p:nvPr/>
        </p:nvSpPr>
        <p:spPr>
          <a:xfrm>
            <a:off x="585788" y="3887986"/>
            <a:ext cx="764800" cy="203597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D84315"/>
                </a:solidFill>
              </a:rPr>
              <a:t>marketcap</a:t>
            </a:r>
            <a:endParaRPr lang="en-US" sz="885" dirty="0"/>
          </a:p>
        </p:txBody>
      </p:sp>
      <p:sp>
        <p:nvSpPr>
          <p:cNvPr id="22" name="Text 19"/>
          <p:cNvSpPr/>
          <p:nvPr/>
        </p:nvSpPr>
        <p:spPr>
          <a:xfrm>
            <a:off x="1871663" y="3893344"/>
            <a:ext cx="2137656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263238"/>
                </a:solidFill>
              </a:rPr>
              <a:t>Market capitalization (millions USD)</a:t>
            </a:r>
            <a:endParaRPr lang="en-US" sz="942" dirty="0"/>
          </a:p>
        </p:txBody>
      </p:sp>
      <p:sp>
        <p:nvSpPr>
          <p:cNvPr id="23" name="Shape 20"/>
          <p:cNvSpPr/>
          <p:nvPr/>
        </p:nvSpPr>
        <p:spPr>
          <a:xfrm>
            <a:off x="585788" y="4209455"/>
            <a:ext cx="246738" cy="203597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4" name="Text 21"/>
          <p:cNvSpPr/>
          <p:nvPr/>
        </p:nvSpPr>
        <p:spPr>
          <a:xfrm>
            <a:off x="585788" y="4209455"/>
            <a:ext cx="246738" cy="203597"/>
          </a:xfrm>
          <a:prstGeom prst="rect">
            <a:avLst/>
          </a:prstGeom>
          <a:noFill/>
          <a:ln/>
        </p:spPr>
        <p:txBody>
          <a:bodyPr wrap="none" lIns="51054" tIns="17018" rIns="51054" bIns="17018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D84315"/>
                </a:solidFill>
              </a:rPr>
              <a:t>pb</a:t>
            </a:r>
            <a:endParaRPr lang="en-US" sz="885" dirty="0"/>
          </a:p>
        </p:txBody>
      </p:sp>
      <p:sp>
        <p:nvSpPr>
          <p:cNvPr id="25" name="Text 22"/>
          <p:cNvSpPr/>
          <p:nvPr/>
        </p:nvSpPr>
        <p:spPr>
          <a:xfrm>
            <a:off x="1871663" y="4214813"/>
            <a:ext cx="112221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263238"/>
                </a:solidFill>
              </a:rPr>
              <a:t>Price-to-book ratio</a:t>
            </a:r>
            <a:endParaRPr lang="en-US" sz="94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016" b="1" dirty="0">
                <a:solidFill>
                  <a:srgbClr val="1A237E"/>
                </a:solidFill>
              </a:rPr>
              <a:t>Data Variables (Part 2): Fundamentals and Classifications</a:t>
            </a:r>
            <a:endParaRPr lang="en-US" sz="2016" dirty="0"/>
          </a:p>
        </p:txBody>
      </p:sp>
      <p:sp>
        <p:nvSpPr>
          <p:cNvPr id="4" name="Shape 1"/>
          <p:cNvSpPr/>
          <p:nvPr/>
        </p:nvSpPr>
        <p:spPr>
          <a:xfrm>
            <a:off x="428625" y="1214438"/>
            <a:ext cx="3929063" cy="407194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1214438"/>
            <a:ext cx="3929063" cy="407194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Fundamentals (from 10-K Filings)</a:t>
            </a:r>
            <a:endParaRPr lang="en-US" sz="1090" dirty="0"/>
          </a:p>
        </p:txBody>
      </p:sp>
      <p:sp>
        <p:nvSpPr>
          <p:cNvPr id="6" name="Text 3"/>
          <p:cNvSpPr/>
          <p:nvPr/>
        </p:nvSpPr>
        <p:spPr>
          <a:xfrm>
            <a:off x="428625" y="1793081"/>
            <a:ext cx="3929063" cy="360034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00897B"/>
                </a:solidFill>
              </a:rPr>
              <a:t>asset_growth</a:t>
            </a:r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63238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1-year percent change in total assets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428625" y="2253128"/>
            <a:ext cx="3929063" cy="360034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00897B"/>
                </a:solidFill>
              </a:rPr>
              <a:t>roe</a:t>
            </a:r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63238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Return on equity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428625" y="2713174"/>
            <a:ext cx="3929063" cy="360034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00897B"/>
                </a:solidFill>
              </a:rPr>
              <a:t>gp_to_assets</a:t>
            </a:r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63238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Gross profit / total assets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428625" y="3173220"/>
            <a:ext cx="3929063" cy="360034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00897B"/>
                </a:solidFill>
              </a:rPr>
              <a:t>grossmargin</a:t>
            </a:r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63238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Gross profit margin ratio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428625" y="3633267"/>
            <a:ext cx="3929063" cy="360034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00897B"/>
                </a:solidFill>
              </a:rPr>
              <a:t>assetturnover</a:t>
            </a:r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63238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Asset turnover efficiency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428625" y="4093313"/>
            <a:ext cx="3929063" cy="360034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00897B"/>
                </a:solidFill>
              </a:rPr>
              <a:t>leverage</a:t>
            </a:r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63238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Financial leverage ratio</a:t>
            </a:r>
            <a:endParaRPr lang="en-US" sz="885" dirty="0"/>
          </a:p>
        </p:txBody>
      </p:sp>
      <p:sp>
        <p:nvSpPr>
          <p:cNvPr id="12" name="Shape 9"/>
          <p:cNvSpPr/>
          <p:nvPr/>
        </p:nvSpPr>
        <p:spPr>
          <a:xfrm>
            <a:off x="4786313" y="1214438"/>
            <a:ext cx="3929063" cy="407194"/>
          </a:xfrm>
          <a:prstGeom prst="rect">
            <a:avLst/>
          </a:prstGeom>
          <a:solidFill>
            <a:srgbClr val="D84315"/>
          </a:solidFill>
          <a:ln/>
        </p:spPr>
      </p:sp>
      <p:sp>
        <p:nvSpPr>
          <p:cNvPr id="13" name="Text 10"/>
          <p:cNvSpPr/>
          <p:nvPr/>
        </p:nvSpPr>
        <p:spPr>
          <a:xfrm>
            <a:off x="4786313" y="1214438"/>
            <a:ext cx="3929063" cy="407194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090" b="1" dirty="0">
                <a:solidFill>
                  <a:srgbClr val="FFFFFF"/>
                </a:solidFill>
              </a:rPr>
              <a:t>Classifications</a:t>
            </a:r>
            <a:endParaRPr lang="en-US" sz="1090" dirty="0"/>
          </a:p>
        </p:txBody>
      </p:sp>
      <p:sp>
        <p:nvSpPr>
          <p:cNvPr id="14" name="Text 11"/>
          <p:cNvSpPr/>
          <p:nvPr/>
        </p:nvSpPr>
        <p:spPr>
          <a:xfrm>
            <a:off x="4786313" y="1793081"/>
            <a:ext cx="3929063" cy="360034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00897B"/>
                </a:solidFill>
              </a:rPr>
              <a:t>sector</a:t>
            </a:r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63238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Industry sector classification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4786313" y="2253128"/>
            <a:ext cx="3929063" cy="360034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00897B"/>
                </a:solidFill>
              </a:rPr>
              <a:t>industry</a:t>
            </a:r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63238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Specific industry classification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4786313" y="2713174"/>
            <a:ext cx="3929063" cy="540051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00897B"/>
                </a:solidFill>
              </a:rPr>
              <a:t>size</a:t>
            </a:r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63238"/>
                </a:solidFill>
              </a:rPr>
              <a:t>
</a:t>
            </a:r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Market cap category: Mega / Large / Mid / Small / Micro / </a:t>
            </a:r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555555"/>
                </a:solidFill>
              </a:rPr>
              <a:t>Nano-Cap</a:t>
            </a:r>
            <a:endParaRPr lang="en-US" sz="88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28675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016" b="1" dirty="0">
                <a:solidFill>
                  <a:srgbClr val="1A237E"/>
                </a:solidFill>
              </a:rPr>
              <a:t>Key Methodology: Avoiding Bias and Defining Size</a:t>
            </a:r>
            <a:endParaRPr lang="en-US" sz="2016" dirty="0"/>
          </a:p>
        </p:txBody>
      </p:sp>
      <p:sp>
        <p:nvSpPr>
          <p:cNvPr id="4" name="Shape 1"/>
          <p:cNvSpPr/>
          <p:nvPr/>
        </p:nvSpPr>
        <p:spPr>
          <a:xfrm>
            <a:off x="428625" y="1143000"/>
            <a:ext cx="4000500" cy="385763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1143000"/>
            <a:ext cx="4000500" cy="385763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Avoiding Look-Ahead Bias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428625" y="1671638"/>
            <a:ext cx="4000500" cy="17145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63238"/>
                </a:solidFill>
              </a:rPr>
              <a:t>Price data (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close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63238"/>
                </a:solidFill>
              </a:rPr>
              <a:t>,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marketcap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63238"/>
                </a:solidFill>
              </a:rPr>
              <a:t>,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pb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63238"/>
                </a:solidFill>
              </a:rPr>
              <a:t>) lagged by 1 month</a:t>
            </a:r>
            <a:endParaRPr lang="en-US" sz="834" dirty="0"/>
          </a:p>
        </p:txBody>
      </p:sp>
      <p:sp>
        <p:nvSpPr>
          <p:cNvPr id="7" name="Text 4"/>
          <p:cNvSpPr/>
          <p:nvPr/>
        </p:nvSpPr>
        <p:spPr>
          <a:xfrm>
            <a:off x="428625" y="1928813"/>
            <a:ext cx="4000500" cy="17145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63238"/>
                </a:solidFill>
              </a:rPr>
              <a:t>Fundamentals available in first full month </a:t>
            </a:r>
            <a:pPr algn="l" indent="0" marL="0">
              <a:lnSpc>
                <a:spcPts val="1400"/>
              </a:lnSpc>
              <a:buNone/>
            </a:pPr>
            <a:r>
              <a:rPr lang="en-US" sz="834" i="1" dirty="0">
                <a:solidFill>
                  <a:srgbClr val="263238"/>
                </a:solidFill>
              </a:rPr>
              <a:t>after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63238"/>
                </a:solidFill>
              </a:rPr>
              <a:t> filing date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428625" y="2185988"/>
            <a:ext cx="4000500" cy="17145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63238"/>
                </a:solidFill>
              </a:rPr>
              <a:t>Forward-filled until next filing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428625" y="1671638"/>
            <a:ext cx="571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897B"/>
                </a:solidFill>
              </a:rPr>
              <a:t>▸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428625" y="1928813"/>
            <a:ext cx="571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897B"/>
                </a:solidFill>
              </a:rPr>
              <a:t>▸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428625" y="2185988"/>
            <a:ext cx="571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897B"/>
                </a:solidFill>
              </a:rPr>
              <a:t>▸</a:t>
            </a:r>
            <a:endParaRPr lang="en-US" sz="784" dirty="0"/>
          </a:p>
        </p:txBody>
      </p:sp>
      <p:sp>
        <p:nvSpPr>
          <p:cNvPr id="12" name="Shape 9"/>
          <p:cNvSpPr/>
          <p:nvPr/>
        </p:nvSpPr>
        <p:spPr>
          <a:xfrm>
            <a:off x="4714875" y="1143000"/>
            <a:ext cx="4000500" cy="385763"/>
          </a:xfrm>
          <a:prstGeom prst="rect">
            <a:avLst/>
          </a:prstGeom>
          <a:solidFill>
            <a:srgbClr val="D84315"/>
          </a:solidFill>
          <a:ln/>
        </p:spPr>
      </p:sp>
      <p:sp>
        <p:nvSpPr>
          <p:cNvPr id="13" name="Text 10"/>
          <p:cNvSpPr/>
          <p:nvPr/>
        </p:nvSpPr>
        <p:spPr>
          <a:xfrm>
            <a:off x="4714875" y="1143000"/>
            <a:ext cx="4000500" cy="385763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Filters Applied</a:t>
            </a:r>
            <a:endParaRPr lang="en-US" sz="987" dirty="0"/>
          </a:p>
        </p:txBody>
      </p:sp>
      <p:sp>
        <p:nvSpPr>
          <p:cNvPr id="14" name="Text 11"/>
          <p:cNvSpPr/>
          <p:nvPr/>
        </p:nvSpPr>
        <p:spPr>
          <a:xfrm>
            <a:off x="4714875" y="1671638"/>
            <a:ext cx="4000500" cy="17145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63238"/>
                </a:solidFill>
              </a:rPr>
              <a:t>All tickers included (including delisted) to avoid survivorship bias</a:t>
            </a:r>
            <a:endParaRPr lang="en-US" sz="834" dirty="0"/>
          </a:p>
        </p:txBody>
      </p:sp>
      <p:sp>
        <p:nvSpPr>
          <p:cNvPr id="15" name="Text 12"/>
          <p:cNvSpPr/>
          <p:nvPr/>
        </p:nvSpPr>
        <p:spPr>
          <a:xfrm>
            <a:off x="4714875" y="1928813"/>
            <a:ext cx="4000500" cy="17145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63238"/>
                </a:solidFill>
              </a:rPr>
              <a:t>Penny stock filter: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close ≥ $5.00</a:t>
            </a:r>
            <a:endParaRPr lang="en-US" sz="834" dirty="0"/>
          </a:p>
        </p:txBody>
      </p:sp>
      <p:sp>
        <p:nvSpPr>
          <p:cNvPr id="16" name="Text 13"/>
          <p:cNvSpPr/>
          <p:nvPr/>
        </p:nvSpPr>
        <p:spPr>
          <a:xfrm>
            <a:off x="4714875" y="1671638"/>
            <a:ext cx="571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D84315"/>
                </a:solidFill>
              </a:rPr>
              <a:t>▸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4714875" y="1928813"/>
            <a:ext cx="571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D84315"/>
                </a:solidFill>
              </a:rPr>
              <a:t>▸</a:t>
            </a:r>
            <a:endParaRPr lang="en-US" sz="784" dirty="0"/>
          </a:p>
        </p:txBody>
      </p:sp>
      <p:sp>
        <p:nvSpPr>
          <p:cNvPr id="18" name="Shape 15"/>
          <p:cNvSpPr/>
          <p:nvPr/>
        </p:nvSpPr>
        <p:spPr>
          <a:xfrm>
            <a:off x="428625" y="2643188"/>
            <a:ext cx="4000500" cy="385763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9" name="Text 16"/>
          <p:cNvSpPr/>
          <p:nvPr/>
        </p:nvSpPr>
        <p:spPr>
          <a:xfrm>
            <a:off x="428625" y="2643188"/>
            <a:ext cx="4000500" cy="385763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Size Categories</a:t>
            </a:r>
            <a:endParaRPr lang="en-US" sz="987" dirty="0"/>
          </a:p>
        </p:txBody>
      </p:sp>
      <p:sp>
        <p:nvSpPr>
          <p:cNvPr id="20" name="Text 17"/>
          <p:cNvSpPr/>
          <p:nvPr/>
        </p:nvSpPr>
        <p:spPr>
          <a:xfrm>
            <a:off x="428625" y="3171825"/>
            <a:ext cx="4000500" cy="17145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63238"/>
                </a:solidFill>
              </a:rPr>
              <a:t>Based on percentile cutoffs within each month</a:t>
            </a:r>
            <a:endParaRPr lang="en-US" sz="834" dirty="0"/>
          </a:p>
        </p:txBody>
      </p:sp>
      <p:sp>
        <p:nvSpPr>
          <p:cNvPr id="21" name="Text 18"/>
          <p:cNvSpPr/>
          <p:nvPr/>
        </p:nvSpPr>
        <p:spPr>
          <a:xfrm>
            <a:off x="428625" y="3429000"/>
            <a:ext cx="4000500" cy="17145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Mega: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63238"/>
                </a:solidFill>
              </a:rPr>
              <a:t> 1.5%</a:t>
            </a:r>
            <a:endParaRPr lang="en-US" sz="784" dirty="0"/>
          </a:p>
        </p:txBody>
      </p:sp>
      <p:sp>
        <p:nvSpPr>
          <p:cNvPr id="22" name="Text 19"/>
          <p:cNvSpPr/>
          <p:nvPr/>
        </p:nvSpPr>
        <p:spPr>
          <a:xfrm>
            <a:off x="428625" y="3686175"/>
            <a:ext cx="4000500" cy="17145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Large: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63238"/>
                </a:solidFill>
              </a:rPr>
              <a:t> 20%</a:t>
            </a:r>
            <a:endParaRPr lang="en-US" sz="784" dirty="0"/>
          </a:p>
        </p:txBody>
      </p:sp>
      <p:sp>
        <p:nvSpPr>
          <p:cNvPr id="23" name="Text 20"/>
          <p:cNvSpPr/>
          <p:nvPr/>
        </p:nvSpPr>
        <p:spPr>
          <a:xfrm>
            <a:off x="428625" y="3943350"/>
            <a:ext cx="4000500" cy="17145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Mid: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63238"/>
                </a:solidFill>
              </a:rPr>
              <a:t> 27%</a:t>
            </a:r>
            <a:endParaRPr lang="en-US" sz="784" dirty="0"/>
          </a:p>
        </p:txBody>
      </p:sp>
      <p:sp>
        <p:nvSpPr>
          <p:cNvPr id="24" name="Text 21"/>
          <p:cNvSpPr/>
          <p:nvPr/>
        </p:nvSpPr>
        <p:spPr>
          <a:xfrm>
            <a:off x="428625" y="4200525"/>
            <a:ext cx="4000500" cy="17145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Small: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63238"/>
                </a:solidFill>
              </a:rPr>
              <a:t> 33%</a:t>
            </a:r>
            <a:endParaRPr lang="en-US" sz="784" dirty="0"/>
          </a:p>
        </p:txBody>
      </p:sp>
      <p:sp>
        <p:nvSpPr>
          <p:cNvPr id="25" name="Text 22"/>
          <p:cNvSpPr/>
          <p:nvPr/>
        </p:nvSpPr>
        <p:spPr>
          <a:xfrm>
            <a:off x="428625" y="4457700"/>
            <a:ext cx="4000500" cy="17145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Micro: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63238"/>
                </a:solidFill>
              </a:rPr>
              <a:t> 15%</a:t>
            </a:r>
            <a:endParaRPr lang="en-US" sz="784" dirty="0"/>
          </a:p>
        </p:txBody>
      </p:sp>
      <p:sp>
        <p:nvSpPr>
          <p:cNvPr id="26" name="Text 23"/>
          <p:cNvSpPr/>
          <p:nvPr/>
        </p:nvSpPr>
        <p:spPr>
          <a:xfrm>
            <a:off x="428625" y="4714875"/>
            <a:ext cx="4000500" cy="171450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Nano:</a:t>
            </a:r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263238"/>
                </a:solidFill>
              </a:rPr>
              <a:t> 3%</a:t>
            </a:r>
            <a:endParaRPr lang="en-US" sz="784" dirty="0"/>
          </a:p>
        </p:txBody>
      </p:sp>
      <p:sp>
        <p:nvSpPr>
          <p:cNvPr id="27" name="Text 24"/>
          <p:cNvSpPr/>
          <p:nvPr/>
        </p:nvSpPr>
        <p:spPr>
          <a:xfrm>
            <a:off x="428625" y="3171825"/>
            <a:ext cx="571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897B"/>
                </a:solidFill>
              </a:rPr>
              <a:t>▸</a:t>
            </a:r>
            <a:endParaRPr lang="en-US" sz="784" dirty="0"/>
          </a:p>
        </p:txBody>
      </p:sp>
      <p:sp>
        <p:nvSpPr>
          <p:cNvPr id="28" name="Text 25"/>
          <p:cNvSpPr/>
          <p:nvPr/>
        </p:nvSpPr>
        <p:spPr>
          <a:xfrm>
            <a:off x="428625" y="3429000"/>
            <a:ext cx="571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897B"/>
                </a:solidFill>
              </a:rPr>
              <a:t>▸</a:t>
            </a:r>
            <a:endParaRPr lang="en-US" sz="784" dirty="0"/>
          </a:p>
        </p:txBody>
      </p:sp>
      <p:sp>
        <p:nvSpPr>
          <p:cNvPr id="29" name="Text 26"/>
          <p:cNvSpPr/>
          <p:nvPr/>
        </p:nvSpPr>
        <p:spPr>
          <a:xfrm>
            <a:off x="428625" y="3686175"/>
            <a:ext cx="571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897B"/>
                </a:solidFill>
              </a:rPr>
              <a:t>▸</a:t>
            </a:r>
            <a:endParaRPr lang="en-US" sz="784" dirty="0"/>
          </a:p>
        </p:txBody>
      </p:sp>
      <p:sp>
        <p:nvSpPr>
          <p:cNvPr id="30" name="Text 27"/>
          <p:cNvSpPr/>
          <p:nvPr/>
        </p:nvSpPr>
        <p:spPr>
          <a:xfrm>
            <a:off x="428625" y="3943350"/>
            <a:ext cx="571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897B"/>
                </a:solidFill>
              </a:rPr>
              <a:t>▸</a:t>
            </a:r>
            <a:endParaRPr lang="en-US" sz="784" dirty="0"/>
          </a:p>
        </p:txBody>
      </p:sp>
      <p:sp>
        <p:nvSpPr>
          <p:cNvPr id="31" name="Text 28"/>
          <p:cNvSpPr/>
          <p:nvPr/>
        </p:nvSpPr>
        <p:spPr>
          <a:xfrm>
            <a:off x="428625" y="4200525"/>
            <a:ext cx="571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897B"/>
                </a:solidFill>
              </a:rPr>
              <a:t>▸</a:t>
            </a:r>
            <a:endParaRPr lang="en-US" sz="784" dirty="0"/>
          </a:p>
        </p:txBody>
      </p:sp>
      <p:sp>
        <p:nvSpPr>
          <p:cNvPr id="32" name="Text 29"/>
          <p:cNvSpPr/>
          <p:nvPr/>
        </p:nvSpPr>
        <p:spPr>
          <a:xfrm>
            <a:off x="428625" y="4457700"/>
            <a:ext cx="571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897B"/>
                </a:solidFill>
              </a:rPr>
              <a:t>▸</a:t>
            </a:r>
            <a:endParaRPr lang="en-US" sz="784" dirty="0"/>
          </a:p>
        </p:txBody>
      </p:sp>
      <p:sp>
        <p:nvSpPr>
          <p:cNvPr id="33" name="Text 30"/>
          <p:cNvSpPr/>
          <p:nvPr/>
        </p:nvSpPr>
        <p:spPr>
          <a:xfrm>
            <a:off x="428625" y="4714875"/>
            <a:ext cx="571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897B"/>
                </a:solidFill>
              </a:rPr>
              <a:t>▸</a:t>
            </a:r>
            <a:endParaRPr lang="en-US" sz="78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016" b="1" dirty="0">
                <a:solidFill>
                  <a:srgbClr val="1A237E"/>
                </a:solidFill>
              </a:rPr>
              <a:t>Data Creation Script: create_data4.py</a:t>
            </a:r>
            <a:endParaRPr lang="en-US" sz="2016" dirty="0"/>
          </a:p>
        </p:txBody>
      </p:sp>
      <p:sp>
        <p:nvSpPr>
          <p:cNvPr id="4" name="Shape 1"/>
          <p:cNvSpPr/>
          <p:nvPr/>
        </p:nvSpPr>
        <p:spPr>
          <a:xfrm>
            <a:off x="428625" y="1214438"/>
            <a:ext cx="4000500" cy="364331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1214438"/>
            <a:ext cx="4000500" cy="364331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Function</a:t>
            </a: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428625" y="1693069"/>
            <a:ext cx="4000500" cy="194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34" b="1" dirty="0">
                <a:solidFill>
                  <a:srgbClr val="263238"/>
                </a:solidFill>
              </a:rPr>
              <a:t>Python script that generates </a:t>
            </a:r>
            <a:pPr algn="l" indent="0" marL="0">
              <a:lnSpc>
                <a:spcPts val="1500"/>
              </a:lnSpc>
              <a:buNone/>
            </a:pPr>
            <a:r>
              <a:rPr lang="en-US" sz="734" b="1" dirty="0">
                <a:solidFill>
                  <a:srgbClr val="00897B"/>
                </a:solidFill>
              </a:rPr>
              <a:t>data4.parquet</a:t>
            </a:r>
            <a:pPr algn="l" indent="0" marL="0">
              <a:lnSpc>
                <a:spcPts val="1500"/>
              </a:lnSpc>
              <a:buNone/>
            </a:pPr>
            <a:r>
              <a:rPr lang="en-US" sz="834" b="1" dirty="0">
                <a:solidFill>
                  <a:srgbClr val="263238"/>
                </a:solidFill>
              </a:rPr>
              <a:t> from the Rice Data Portal</a:t>
            </a:r>
            <a:endParaRPr lang="en-US" sz="834" dirty="0"/>
          </a:p>
        </p:txBody>
      </p:sp>
      <p:sp>
        <p:nvSpPr>
          <p:cNvPr id="7" name="Shape 4"/>
          <p:cNvSpPr/>
          <p:nvPr/>
        </p:nvSpPr>
        <p:spPr>
          <a:xfrm>
            <a:off x="4714875" y="1214438"/>
            <a:ext cx="4000500" cy="364331"/>
          </a:xfrm>
          <a:prstGeom prst="rect">
            <a:avLst/>
          </a:prstGeom>
          <a:solidFill>
            <a:srgbClr val="D84315"/>
          </a:solidFill>
          <a:ln/>
        </p:spPr>
      </p:sp>
      <p:sp>
        <p:nvSpPr>
          <p:cNvPr id="8" name="Text 5"/>
          <p:cNvSpPr/>
          <p:nvPr/>
        </p:nvSpPr>
        <p:spPr>
          <a:xfrm>
            <a:off x="4714875" y="1214438"/>
            <a:ext cx="4000500" cy="364331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Data Sources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4714875" y="1693069"/>
            <a:ext cx="4000500" cy="194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34" b="1" dirty="0">
                <a:solidFill>
                  <a:srgbClr val="263238"/>
                </a:solidFill>
              </a:rPr>
              <a:t>Queries SEP, DAILY, SF1, and TICKERS tables via API</a:t>
            </a:r>
            <a:endParaRPr lang="en-US" sz="834" dirty="0"/>
          </a:p>
        </p:txBody>
      </p:sp>
      <p:sp>
        <p:nvSpPr>
          <p:cNvPr id="10" name="Shape 7"/>
          <p:cNvSpPr/>
          <p:nvPr/>
        </p:nvSpPr>
        <p:spPr>
          <a:xfrm>
            <a:off x="428625" y="2173123"/>
            <a:ext cx="4000500" cy="364331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1" name="Text 8"/>
          <p:cNvSpPr/>
          <p:nvPr/>
        </p:nvSpPr>
        <p:spPr>
          <a:xfrm>
            <a:off x="428625" y="2173123"/>
            <a:ext cx="4000500" cy="364331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Methodology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428625" y="2651754"/>
            <a:ext cx="4000500" cy="388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34" b="1" dirty="0">
                <a:solidFill>
                  <a:srgbClr val="263238"/>
                </a:solidFill>
              </a:rPr>
              <a:t>Implements proper time-series methodology to ensure </a:t>
            </a:r>
            <a:pPr algn="l" indent="0" marL="0">
              <a:lnSpc>
                <a:spcPts val="1500"/>
              </a:lnSpc>
              <a:buNone/>
            </a:pPr>
            <a:r>
              <a:rPr lang="en-US" sz="834" b="1" dirty="0">
                <a:solidFill>
                  <a:srgbClr val="1A237E"/>
                </a:solidFill>
              </a:rPr>
              <a:t>no look-ahead bias</a:t>
            </a:r>
            <a:endParaRPr lang="en-US" sz="834" dirty="0"/>
          </a:p>
        </p:txBody>
      </p:sp>
      <p:sp>
        <p:nvSpPr>
          <p:cNvPr id="13" name="Shape 10"/>
          <p:cNvSpPr/>
          <p:nvPr/>
        </p:nvSpPr>
        <p:spPr>
          <a:xfrm>
            <a:off x="4714875" y="2173123"/>
            <a:ext cx="4000500" cy="364331"/>
          </a:xfrm>
          <a:prstGeom prst="rect">
            <a:avLst/>
          </a:prstGeom>
          <a:solidFill>
            <a:srgbClr val="D84315"/>
          </a:solidFill>
          <a:ln/>
        </p:spPr>
      </p:sp>
      <p:sp>
        <p:nvSpPr>
          <p:cNvPr id="14" name="Text 11"/>
          <p:cNvSpPr/>
          <p:nvPr/>
        </p:nvSpPr>
        <p:spPr>
          <a:xfrm>
            <a:off x="4714875" y="2173123"/>
            <a:ext cx="4000500" cy="364331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Purpose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4714875" y="2651754"/>
            <a:ext cx="4000500" cy="194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34" b="1" dirty="0">
                <a:solidFill>
                  <a:srgbClr val="263238"/>
                </a:solidFill>
              </a:rPr>
              <a:t>Designed as a </a:t>
            </a:r>
            <a:pPr algn="l" indent="0" marL="0">
              <a:lnSpc>
                <a:spcPts val="1500"/>
              </a:lnSpc>
              <a:buNone/>
            </a:pPr>
            <a:r>
              <a:rPr lang="en-US" sz="834" b="1" dirty="0">
                <a:solidFill>
                  <a:srgbClr val="1A237E"/>
                </a:solidFill>
              </a:rPr>
              <a:t>template</a:t>
            </a:r>
            <a:pPr algn="l" indent="0" marL="0">
              <a:lnSpc>
                <a:spcPts val="1500"/>
              </a:lnSpc>
              <a:buNone/>
            </a:pPr>
            <a:r>
              <a:rPr lang="en-US" sz="834" b="1" dirty="0">
                <a:solidFill>
                  <a:srgbClr val="263238"/>
                </a:solidFill>
              </a:rPr>
              <a:t> for creating similar ML-ready datasets</a:t>
            </a:r>
            <a:endParaRPr lang="en-US" sz="834" dirty="0"/>
          </a:p>
        </p:txBody>
      </p:sp>
      <p:sp>
        <p:nvSpPr>
          <p:cNvPr id="16" name="Shape 13"/>
          <p:cNvSpPr/>
          <p:nvPr/>
        </p:nvSpPr>
        <p:spPr>
          <a:xfrm>
            <a:off x="428625" y="3326113"/>
            <a:ext cx="8286750" cy="364331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7" name="Text 14"/>
          <p:cNvSpPr/>
          <p:nvPr/>
        </p:nvSpPr>
        <p:spPr>
          <a:xfrm>
            <a:off x="428625" y="3326113"/>
            <a:ext cx="8286750" cy="364331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Documentation &amp; Output</a:t>
            </a:r>
            <a:endParaRPr lang="en-US" sz="885" dirty="0"/>
          </a:p>
        </p:txBody>
      </p:sp>
      <p:sp>
        <p:nvSpPr>
          <p:cNvPr id="18" name="Text 15"/>
          <p:cNvSpPr/>
          <p:nvPr/>
        </p:nvSpPr>
        <p:spPr>
          <a:xfrm>
            <a:off x="428625" y="3804745"/>
            <a:ext cx="8286750" cy="194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34" b="1" dirty="0">
                <a:solidFill>
                  <a:srgbClr val="263238"/>
                </a:solidFill>
              </a:rPr>
              <a:t>Well-documented with </a:t>
            </a:r>
            <a:pPr algn="l" indent="0" marL="0">
              <a:lnSpc>
                <a:spcPts val="1500"/>
              </a:lnSpc>
              <a:buNone/>
            </a:pPr>
            <a:r>
              <a:rPr lang="en-US" sz="834" b="1" dirty="0">
                <a:solidFill>
                  <a:srgbClr val="1A237E"/>
                </a:solidFill>
              </a:rPr>
              <a:t>580 lines</a:t>
            </a:r>
            <a:pPr algn="l" indent="0" marL="0">
              <a:lnSpc>
                <a:spcPts val="1500"/>
              </a:lnSpc>
              <a:buNone/>
            </a:pPr>
            <a:r>
              <a:rPr lang="en-US" sz="834" b="1" dirty="0">
                <a:solidFill>
                  <a:srgbClr val="263238"/>
                </a:solidFill>
              </a:rPr>
              <a:t> including extensive comments. Outputs raw data only (percentile ranking done in training script)</a:t>
            </a:r>
            <a:endParaRPr lang="en-US" sz="83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016" b="1" dirty="0">
                <a:solidFill>
                  <a:srgbClr val="1A237E"/>
                </a:solidFill>
              </a:rPr>
              <a:t>Data Creation Configuration: Key Parameters in create_data4.py</a:t>
            </a:r>
            <a:endParaRPr lang="en-US" sz="2016" dirty="0"/>
          </a:p>
        </p:txBody>
      </p:sp>
      <p:sp>
        <p:nvSpPr>
          <p:cNvPr id="4" name="Shape 1"/>
          <p:cNvSpPr/>
          <p:nvPr/>
        </p:nvSpPr>
        <p:spPr>
          <a:xfrm>
            <a:off x="428625" y="1643063"/>
            <a:ext cx="3964781" cy="335756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1643063"/>
            <a:ext cx="3964781" cy="335756"/>
          </a:xfrm>
          <a:prstGeom prst="rect">
            <a:avLst/>
          </a:prstGeom>
          <a:noFill/>
          <a:ln/>
        </p:spPr>
        <p:txBody>
          <a:bodyPr wrap="square" lIns="136017" tIns="85090" rIns="136017" bIns="8509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Date Range</a:t>
            </a: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428625" y="2100263"/>
            <a:ext cx="1143000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00897B"/>
                </a:solidFill>
              </a:rPr>
              <a:t>START_YEAR</a:t>
            </a:r>
            <a:endParaRPr lang="en-US" sz="834" dirty="0"/>
          </a:p>
        </p:txBody>
      </p:sp>
      <p:sp>
        <p:nvSpPr>
          <p:cNvPr id="7" name="Text 4"/>
          <p:cNvSpPr/>
          <p:nvPr/>
        </p:nvSpPr>
        <p:spPr>
          <a:xfrm>
            <a:off x="1657350" y="2093119"/>
            <a:ext cx="29423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237E"/>
                </a:solidFill>
              </a:rPr>
              <a:t>2010</a:t>
            </a:r>
            <a:endParaRPr lang="en-US" sz="885" dirty="0"/>
          </a:p>
        </p:txBody>
      </p:sp>
      <p:sp>
        <p:nvSpPr>
          <p:cNvPr id="8" name="Shape 5"/>
          <p:cNvSpPr/>
          <p:nvPr/>
        </p:nvSpPr>
        <p:spPr>
          <a:xfrm>
            <a:off x="4750594" y="1643063"/>
            <a:ext cx="3964781" cy="335756"/>
          </a:xfrm>
          <a:prstGeom prst="rect">
            <a:avLst/>
          </a:prstGeom>
          <a:solidFill>
            <a:srgbClr val="D84315"/>
          </a:solidFill>
          <a:ln/>
        </p:spPr>
      </p:sp>
      <p:sp>
        <p:nvSpPr>
          <p:cNvPr id="9" name="Text 6"/>
          <p:cNvSpPr/>
          <p:nvPr/>
        </p:nvSpPr>
        <p:spPr>
          <a:xfrm>
            <a:off x="4750594" y="1643063"/>
            <a:ext cx="3964781" cy="335756"/>
          </a:xfrm>
          <a:prstGeom prst="rect">
            <a:avLst/>
          </a:prstGeom>
          <a:noFill/>
          <a:ln/>
        </p:spPr>
        <p:txBody>
          <a:bodyPr wrap="square" lIns="136017" tIns="85090" rIns="136017" bIns="8509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Penny Stock Filter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4750594" y="2100263"/>
            <a:ext cx="1143000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D84315"/>
                </a:solidFill>
              </a:rPr>
              <a:t>MINIMUM_PRICE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5979319" y="2093119"/>
            <a:ext cx="33087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237E"/>
                </a:solidFill>
              </a:rPr>
              <a:t>$5.00</a:t>
            </a:r>
            <a:endParaRPr lang="en-US" sz="885" dirty="0"/>
          </a:p>
        </p:txBody>
      </p:sp>
      <p:sp>
        <p:nvSpPr>
          <p:cNvPr id="12" name="Shape 9"/>
          <p:cNvSpPr/>
          <p:nvPr/>
        </p:nvSpPr>
        <p:spPr>
          <a:xfrm>
            <a:off x="428625" y="2757488"/>
            <a:ext cx="3964781" cy="335756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3" name="Text 10"/>
          <p:cNvSpPr/>
          <p:nvPr/>
        </p:nvSpPr>
        <p:spPr>
          <a:xfrm>
            <a:off x="428625" y="2757488"/>
            <a:ext cx="3964781" cy="335756"/>
          </a:xfrm>
          <a:prstGeom prst="rect">
            <a:avLst/>
          </a:prstGeom>
          <a:noFill/>
          <a:ln/>
        </p:spPr>
        <p:txBody>
          <a:bodyPr wrap="square" lIns="136017" tIns="85090" rIns="136017" bIns="8509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API Efficiency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428625" y="3214688"/>
            <a:ext cx="1143000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00897B"/>
                </a:solidFill>
              </a:rPr>
              <a:t>BATCH_SIZE</a:t>
            </a:r>
            <a:endParaRPr lang="en-US" sz="834" dirty="0"/>
          </a:p>
        </p:txBody>
      </p:sp>
      <p:sp>
        <p:nvSpPr>
          <p:cNvPr id="15" name="Text 12"/>
          <p:cNvSpPr/>
          <p:nvPr/>
        </p:nvSpPr>
        <p:spPr>
          <a:xfrm>
            <a:off x="1657350" y="3207544"/>
            <a:ext cx="22067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237E"/>
                </a:solidFill>
              </a:rPr>
              <a:t>500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1963750" y="3223617"/>
            <a:ext cx="90538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555555"/>
                </a:solidFill>
              </a:rPr>
              <a:t>tickers per query</a:t>
            </a:r>
            <a:endParaRPr lang="en-US" sz="834" dirty="0"/>
          </a:p>
        </p:txBody>
      </p:sp>
      <p:sp>
        <p:nvSpPr>
          <p:cNvPr id="17" name="Shape 14"/>
          <p:cNvSpPr/>
          <p:nvPr/>
        </p:nvSpPr>
        <p:spPr>
          <a:xfrm>
            <a:off x="4750594" y="2757488"/>
            <a:ext cx="3964781" cy="335756"/>
          </a:xfrm>
          <a:prstGeom prst="rect">
            <a:avLst/>
          </a:prstGeom>
          <a:solidFill>
            <a:srgbClr val="D84315"/>
          </a:solidFill>
          <a:ln/>
        </p:spPr>
      </p:sp>
      <p:sp>
        <p:nvSpPr>
          <p:cNvPr id="18" name="Text 15"/>
          <p:cNvSpPr/>
          <p:nvPr/>
        </p:nvSpPr>
        <p:spPr>
          <a:xfrm>
            <a:off x="4750594" y="2757488"/>
            <a:ext cx="3964781" cy="335756"/>
          </a:xfrm>
          <a:prstGeom prst="rect">
            <a:avLst/>
          </a:prstGeom>
          <a:noFill/>
          <a:ln/>
        </p:spPr>
        <p:txBody>
          <a:bodyPr wrap="square" lIns="136017" tIns="85090" rIns="136017" bIns="8509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Size Percentile Cutoffs</a:t>
            </a:r>
            <a:endParaRPr lang="en-US" sz="885" dirty="0"/>
          </a:p>
        </p:txBody>
      </p:sp>
      <p:sp>
        <p:nvSpPr>
          <p:cNvPr id="19" name="Shape 16"/>
          <p:cNvSpPr/>
          <p:nvPr/>
        </p:nvSpPr>
        <p:spPr>
          <a:xfrm>
            <a:off x="4750594" y="3207544"/>
            <a:ext cx="3964781" cy="267891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0" name="Shape 17"/>
          <p:cNvSpPr/>
          <p:nvPr/>
        </p:nvSpPr>
        <p:spPr>
          <a:xfrm>
            <a:off x="4750594" y="3207544"/>
            <a:ext cx="28575" cy="267891"/>
          </a:xfrm>
          <a:prstGeom prst="rect">
            <a:avLst/>
          </a:prstGeom>
          <a:solidFill>
            <a:srgbClr val="D84315"/>
          </a:solidFill>
          <a:ln/>
        </p:spPr>
      </p:sp>
      <p:sp>
        <p:nvSpPr>
          <p:cNvPr id="21" name="Text 18"/>
          <p:cNvSpPr/>
          <p:nvPr/>
        </p:nvSpPr>
        <p:spPr>
          <a:xfrm>
            <a:off x="4836319" y="3255764"/>
            <a:ext cx="83074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63238"/>
                </a:solidFill>
              </a:rPr>
              <a:t>NANO_CUTOFF</a:t>
            </a:r>
            <a:endParaRPr lang="en-US" sz="784" dirty="0"/>
          </a:p>
        </p:txBody>
      </p:sp>
      <p:sp>
        <p:nvSpPr>
          <p:cNvPr id="22" name="Text 19"/>
          <p:cNvSpPr/>
          <p:nvPr/>
        </p:nvSpPr>
        <p:spPr>
          <a:xfrm>
            <a:off x="8277206" y="3250406"/>
            <a:ext cx="352444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1A237E"/>
                </a:solidFill>
              </a:rPr>
              <a:t>3.34%</a:t>
            </a:r>
            <a:endParaRPr lang="en-US" sz="834" dirty="0"/>
          </a:p>
        </p:txBody>
      </p:sp>
      <p:sp>
        <p:nvSpPr>
          <p:cNvPr id="23" name="Shape 20"/>
          <p:cNvSpPr/>
          <p:nvPr/>
        </p:nvSpPr>
        <p:spPr>
          <a:xfrm>
            <a:off x="4750594" y="3546872"/>
            <a:ext cx="3964781" cy="267891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4" name="Shape 21"/>
          <p:cNvSpPr/>
          <p:nvPr/>
        </p:nvSpPr>
        <p:spPr>
          <a:xfrm>
            <a:off x="4750594" y="3546872"/>
            <a:ext cx="28575" cy="267891"/>
          </a:xfrm>
          <a:prstGeom prst="rect">
            <a:avLst/>
          </a:prstGeom>
          <a:solidFill>
            <a:srgbClr val="D84315"/>
          </a:solidFill>
          <a:ln/>
        </p:spPr>
      </p:sp>
      <p:sp>
        <p:nvSpPr>
          <p:cNvPr id="25" name="Text 22"/>
          <p:cNvSpPr/>
          <p:nvPr/>
        </p:nvSpPr>
        <p:spPr>
          <a:xfrm>
            <a:off x="4836319" y="3595092"/>
            <a:ext cx="86765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63238"/>
                </a:solidFill>
              </a:rPr>
              <a:t>MICRO_CUTOFF</a:t>
            </a:r>
            <a:endParaRPr lang="en-US" sz="784" dirty="0"/>
          </a:p>
        </p:txBody>
      </p:sp>
      <p:sp>
        <p:nvSpPr>
          <p:cNvPr id="26" name="Text 23"/>
          <p:cNvSpPr/>
          <p:nvPr/>
        </p:nvSpPr>
        <p:spPr>
          <a:xfrm>
            <a:off x="8207750" y="3589734"/>
            <a:ext cx="421900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1A237E"/>
                </a:solidFill>
              </a:rPr>
              <a:t>18.83%</a:t>
            </a:r>
            <a:endParaRPr lang="en-US" sz="834" dirty="0"/>
          </a:p>
        </p:txBody>
      </p:sp>
      <p:sp>
        <p:nvSpPr>
          <p:cNvPr id="27" name="Shape 24"/>
          <p:cNvSpPr/>
          <p:nvPr/>
        </p:nvSpPr>
        <p:spPr>
          <a:xfrm>
            <a:off x="4750594" y="3886200"/>
            <a:ext cx="3964781" cy="267891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8" name="Shape 25"/>
          <p:cNvSpPr/>
          <p:nvPr/>
        </p:nvSpPr>
        <p:spPr>
          <a:xfrm>
            <a:off x="4750594" y="3886200"/>
            <a:ext cx="28575" cy="267891"/>
          </a:xfrm>
          <a:prstGeom prst="rect">
            <a:avLst/>
          </a:prstGeom>
          <a:solidFill>
            <a:srgbClr val="D84315"/>
          </a:solidFill>
          <a:ln/>
        </p:spPr>
      </p:sp>
      <p:sp>
        <p:nvSpPr>
          <p:cNvPr id="29" name="Text 26"/>
          <p:cNvSpPr/>
          <p:nvPr/>
        </p:nvSpPr>
        <p:spPr>
          <a:xfrm>
            <a:off x="4836319" y="3934420"/>
            <a:ext cx="85395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63238"/>
                </a:solidFill>
              </a:rPr>
              <a:t>SMALL_CUTOFF</a:t>
            </a:r>
            <a:endParaRPr lang="en-US" sz="784" dirty="0"/>
          </a:p>
        </p:txBody>
      </p:sp>
      <p:sp>
        <p:nvSpPr>
          <p:cNvPr id="30" name="Text 27"/>
          <p:cNvSpPr/>
          <p:nvPr/>
        </p:nvSpPr>
        <p:spPr>
          <a:xfrm>
            <a:off x="8207750" y="3929063"/>
            <a:ext cx="421900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1A237E"/>
                </a:solidFill>
              </a:rPr>
              <a:t>51.46%</a:t>
            </a:r>
            <a:endParaRPr lang="en-US" sz="834" dirty="0"/>
          </a:p>
        </p:txBody>
      </p:sp>
      <p:sp>
        <p:nvSpPr>
          <p:cNvPr id="31" name="Shape 28"/>
          <p:cNvSpPr/>
          <p:nvPr/>
        </p:nvSpPr>
        <p:spPr>
          <a:xfrm>
            <a:off x="4750594" y="4225528"/>
            <a:ext cx="3964781" cy="267891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2" name="Shape 29"/>
          <p:cNvSpPr/>
          <p:nvPr/>
        </p:nvSpPr>
        <p:spPr>
          <a:xfrm>
            <a:off x="4750594" y="4225528"/>
            <a:ext cx="28575" cy="267891"/>
          </a:xfrm>
          <a:prstGeom prst="rect">
            <a:avLst/>
          </a:prstGeom>
          <a:solidFill>
            <a:srgbClr val="D84315"/>
          </a:solidFill>
          <a:ln/>
        </p:spPr>
      </p:sp>
      <p:sp>
        <p:nvSpPr>
          <p:cNvPr id="33" name="Text 30"/>
          <p:cNvSpPr/>
          <p:nvPr/>
        </p:nvSpPr>
        <p:spPr>
          <a:xfrm>
            <a:off x="4836319" y="4273748"/>
            <a:ext cx="71507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63238"/>
                </a:solidFill>
              </a:rPr>
              <a:t>MID_CUTOFF</a:t>
            </a:r>
            <a:endParaRPr lang="en-US" sz="784" dirty="0"/>
          </a:p>
        </p:txBody>
      </p:sp>
      <p:sp>
        <p:nvSpPr>
          <p:cNvPr id="34" name="Text 31"/>
          <p:cNvSpPr/>
          <p:nvPr/>
        </p:nvSpPr>
        <p:spPr>
          <a:xfrm>
            <a:off x="8207750" y="4268391"/>
            <a:ext cx="421900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1A237E"/>
                </a:solidFill>
              </a:rPr>
              <a:t>78.60%</a:t>
            </a:r>
            <a:endParaRPr lang="en-US" sz="834" dirty="0"/>
          </a:p>
        </p:txBody>
      </p:sp>
      <p:sp>
        <p:nvSpPr>
          <p:cNvPr id="35" name="Shape 32"/>
          <p:cNvSpPr/>
          <p:nvPr/>
        </p:nvSpPr>
        <p:spPr>
          <a:xfrm>
            <a:off x="4750594" y="4564856"/>
            <a:ext cx="3964781" cy="267891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6" name="Shape 33"/>
          <p:cNvSpPr/>
          <p:nvPr/>
        </p:nvSpPr>
        <p:spPr>
          <a:xfrm>
            <a:off x="4750594" y="4564856"/>
            <a:ext cx="28575" cy="267891"/>
          </a:xfrm>
          <a:prstGeom prst="rect">
            <a:avLst/>
          </a:prstGeom>
          <a:solidFill>
            <a:srgbClr val="D84315"/>
          </a:solidFill>
          <a:ln/>
        </p:spPr>
      </p:sp>
      <p:sp>
        <p:nvSpPr>
          <p:cNvPr id="37" name="Text 34"/>
          <p:cNvSpPr/>
          <p:nvPr/>
        </p:nvSpPr>
        <p:spPr>
          <a:xfrm>
            <a:off x="4836319" y="4613077"/>
            <a:ext cx="84262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263238"/>
                </a:solidFill>
              </a:rPr>
              <a:t>LARGE_CUTOFF</a:t>
            </a:r>
            <a:endParaRPr lang="en-US" sz="784" dirty="0"/>
          </a:p>
        </p:txBody>
      </p:sp>
      <p:sp>
        <p:nvSpPr>
          <p:cNvPr id="38" name="Text 35"/>
          <p:cNvSpPr/>
          <p:nvPr/>
        </p:nvSpPr>
        <p:spPr>
          <a:xfrm>
            <a:off x="8207750" y="4607719"/>
            <a:ext cx="421900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1A237E"/>
                </a:solidFill>
              </a:rPr>
              <a:t>98.53%</a:t>
            </a:r>
            <a:endParaRPr lang="en-US" sz="83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833698"/>
            <a:ext cx="5254117" cy="66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8" b="1" dirty="0">
                <a:solidFill>
                  <a:srgbClr val="1A237E"/>
                </a:solidFill>
              </a:rPr>
              <a:t>Training and Prediction Pipeline: train_predict_data4.py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428625" y="1716621"/>
            <a:ext cx="5254117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63238"/>
                </a:solidFill>
              </a:rPr>
              <a:t>Complete pipeline from raw data to portfolio analysis. Consolidates training, prediction, and portfolio formation with comprehensive outputs.</a:t>
            </a:r>
            <a:endParaRPr lang="en-US" sz="885" dirty="0"/>
          </a:p>
        </p:txBody>
      </p:sp>
      <p:sp>
        <p:nvSpPr>
          <p:cNvPr id="5" name="Text 2"/>
          <p:cNvSpPr/>
          <p:nvPr/>
        </p:nvSpPr>
        <p:spPr>
          <a:xfrm>
            <a:off x="428625" y="2316696"/>
            <a:ext cx="525411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237E"/>
                </a:solidFill>
              </a:rPr>
              <a:t>Four Main Steps:</a:t>
            </a:r>
            <a:endParaRPr lang="en-US" sz="885" dirty="0"/>
          </a:p>
        </p:txBody>
      </p:sp>
      <p:sp>
        <p:nvSpPr>
          <p:cNvPr id="6" name="Shape 3"/>
          <p:cNvSpPr/>
          <p:nvPr/>
        </p:nvSpPr>
        <p:spPr>
          <a:xfrm>
            <a:off x="428625" y="2652452"/>
            <a:ext cx="285750" cy="285750"/>
          </a:xfrm>
          <a:prstGeom prst="rect">
            <a:avLst/>
          </a:prstGeom>
          <a:solidFill>
            <a:srgbClr val="D84315"/>
          </a:solidFill>
          <a:ln/>
        </p:spPr>
      </p:sp>
      <p:sp>
        <p:nvSpPr>
          <p:cNvPr id="7" name="Text 4"/>
          <p:cNvSpPr/>
          <p:nvPr/>
        </p:nvSpPr>
        <p:spPr>
          <a:xfrm>
            <a:off x="428625" y="2652452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1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828675" y="2652452"/>
            <a:ext cx="2645252" cy="188584"/>
          </a:xfrm>
          <a:prstGeom prst="rect">
            <a:avLst/>
          </a:prstGeom>
          <a:noFill/>
          <a:ln/>
        </p:spPr>
        <p:txBody>
          <a:bodyPr wrap="none" lIns="0" tIns="34036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263238"/>
                </a:solidFill>
              </a:rPr>
              <a:t>Create percentile-ranked features from raw data</a:t>
            </a:r>
            <a:endParaRPr lang="en-US" sz="784" dirty="0"/>
          </a:p>
        </p:txBody>
      </p:sp>
      <p:sp>
        <p:nvSpPr>
          <p:cNvPr id="9" name="Shape 6"/>
          <p:cNvSpPr/>
          <p:nvPr/>
        </p:nvSpPr>
        <p:spPr>
          <a:xfrm>
            <a:off x="428625" y="3066790"/>
            <a:ext cx="285750" cy="28575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0" name="Text 7"/>
          <p:cNvSpPr/>
          <p:nvPr/>
        </p:nvSpPr>
        <p:spPr>
          <a:xfrm>
            <a:off x="428625" y="3066790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2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828675" y="3066790"/>
            <a:ext cx="3829999" cy="188584"/>
          </a:xfrm>
          <a:prstGeom prst="rect">
            <a:avLst/>
          </a:prstGeom>
          <a:noFill/>
          <a:ln/>
        </p:spPr>
        <p:txBody>
          <a:bodyPr wrap="none" lIns="0" tIns="34036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263238"/>
                </a:solidFill>
              </a:rPr>
              <a:t>Train LightGBM with 12-month rolling windows (</a:t>
            </a:r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897B"/>
                </a:solidFill>
              </a:rPr>
              <a:t>data4_predict.parquet</a:t>
            </a:r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263238"/>
                </a:solidFill>
              </a:rPr>
              <a:t>)</a:t>
            </a:r>
            <a:endParaRPr lang="en-US" sz="784" dirty="0"/>
          </a:p>
        </p:txBody>
      </p:sp>
      <p:sp>
        <p:nvSpPr>
          <p:cNvPr id="12" name="Shape 9"/>
          <p:cNvSpPr/>
          <p:nvPr/>
        </p:nvSpPr>
        <p:spPr>
          <a:xfrm>
            <a:off x="428625" y="3481127"/>
            <a:ext cx="285750" cy="28575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3" name="Text 10"/>
          <p:cNvSpPr/>
          <p:nvPr/>
        </p:nvSpPr>
        <p:spPr>
          <a:xfrm>
            <a:off x="428625" y="3481127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3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828675" y="3481127"/>
            <a:ext cx="3026411" cy="188584"/>
          </a:xfrm>
          <a:prstGeom prst="rect">
            <a:avLst/>
          </a:prstGeom>
          <a:noFill/>
          <a:ln/>
        </p:spPr>
        <p:txBody>
          <a:bodyPr wrap="none" lIns="0" tIns="34036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263238"/>
                </a:solidFill>
              </a:rPr>
              <a:t>Form decile portfolios and analyze (</a:t>
            </a:r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897B"/>
                </a:solidFill>
              </a:rPr>
              <a:t>data4_portfolios.csv</a:t>
            </a:r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263238"/>
                </a:solidFill>
              </a:rPr>
              <a:t>)</a:t>
            </a:r>
            <a:endParaRPr lang="en-US" sz="784" dirty="0"/>
          </a:p>
        </p:txBody>
      </p:sp>
      <p:sp>
        <p:nvSpPr>
          <p:cNvPr id="15" name="Shape 12"/>
          <p:cNvSpPr/>
          <p:nvPr/>
        </p:nvSpPr>
        <p:spPr>
          <a:xfrm>
            <a:off x="428625" y="3895465"/>
            <a:ext cx="285750" cy="285750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6" name="Text 13"/>
          <p:cNvSpPr/>
          <p:nvPr/>
        </p:nvSpPr>
        <p:spPr>
          <a:xfrm>
            <a:off x="428625" y="3895465"/>
            <a:ext cx="2857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4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828675" y="3895465"/>
            <a:ext cx="4092755" cy="188584"/>
          </a:xfrm>
          <a:prstGeom prst="rect">
            <a:avLst/>
          </a:prstGeom>
          <a:noFill/>
          <a:ln/>
        </p:spPr>
        <p:txBody>
          <a:bodyPr wrap="none" lIns="0" tIns="34036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263238"/>
                </a:solidFill>
              </a:rPr>
              <a:t>Predict current month and save model (</a:t>
            </a:r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897B"/>
                </a:solidFill>
              </a:rPr>
              <a:t>data4_current.xlsx</a:t>
            </a:r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263238"/>
                </a:solidFill>
              </a:rPr>
              <a:t>, </a:t>
            </a:r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897B"/>
                </a:solidFill>
              </a:rPr>
              <a:t>data4_model.pkl</a:t>
            </a:r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263238"/>
                </a:solidFill>
              </a:rPr>
              <a:t>)</a:t>
            </a:r>
            <a:endParaRPr lang="en-US" sz="784" dirty="0"/>
          </a:p>
        </p:txBody>
      </p:sp>
      <p:sp>
        <p:nvSpPr>
          <p:cNvPr id="18" name="Shape 15"/>
          <p:cNvSpPr/>
          <p:nvPr/>
        </p:nvSpPr>
        <p:spPr>
          <a:xfrm>
            <a:off x="6056058" y="1214438"/>
            <a:ext cx="2714625" cy="2714625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6058" y="1214438"/>
            <a:ext cx="2714625" cy="27146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75800"/>
            <a:ext cx="5089922" cy="668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8" b="1" dirty="0">
                <a:solidFill>
                  <a:srgbClr val="1A237E"/>
                </a:solidFill>
              </a:rPr>
              <a:t>Portfolio Performance: data4_portfolios.csv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428625" y="1330161"/>
            <a:ext cx="5089922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237E"/>
                </a:solidFill>
              </a:rPr>
              <a:t>Content:</a:t>
            </a:r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63238"/>
                </a:solidFill>
              </a:rPr>
              <a:t> Portfolio returns generated by sorting on LightGBM predictions</a:t>
            </a:r>
            <a:endParaRPr lang="en-US" sz="885" dirty="0"/>
          </a:p>
        </p:txBody>
      </p:sp>
      <p:sp>
        <p:nvSpPr>
          <p:cNvPr id="5" name="Text 2"/>
          <p:cNvSpPr/>
          <p:nvPr/>
        </p:nvSpPr>
        <p:spPr>
          <a:xfrm>
            <a:off x="428625" y="1581615"/>
            <a:ext cx="5089922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237E"/>
                </a:solidFill>
              </a:rPr>
              <a:t>Scale:</a:t>
            </a:r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63238"/>
                </a:solidFill>
              </a:rPr>
              <a:t> 1,650 rows (165 months × 10 deciles)</a:t>
            </a: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428625" y="1833070"/>
            <a:ext cx="5089922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1A237E"/>
                </a:solidFill>
              </a:rPr>
              <a:t>Timeframe:</a:t>
            </a:r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263238"/>
                </a:solidFill>
              </a:rPr>
              <a:t> February 2012 to October 2025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428625" y="2384561"/>
            <a:ext cx="5089922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237E"/>
                </a:solidFill>
              </a:rPr>
              <a:t>Columns: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428625" y="2691743"/>
            <a:ext cx="5089922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897B"/>
                </a:solidFill>
              </a:rPr>
              <a:t>month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263238"/>
                </a:solidFill>
              </a:rPr>
              <a:t> – Prediction month</a:t>
            </a:r>
            <a:endParaRPr lang="en-US" sz="734" dirty="0"/>
          </a:p>
        </p:txBody>
      </p:sp>
      <p:sp>
        <p:nvSpPr>
          <p:cNvPr id="9" name="Text 6"/>
          <p:cNvSpPr/>
          <p:nvPr/>
        </p:nvSpPr>
        <p:spPr>
          <a:xfrm>
            <a:off x="428625" y="2923189"/>
            <a:ext cx="5089922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897B"/>
                </a:solidFill>
              </a:rPr>
              <a:t>decile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263238"/>
                </a:solidFill>
              </a:rPr>
              <a:t> – Portfolio rank (1 = lowest predicted, 10 = highest)</a:t>
            </a:r>
            <a:endParaRPr lang="en-US" sz="734" dirty="0"/>
          </a:p>
        </p:txBody>
      </p:sp>
      <p:sp>
        <p:nvSpPr>
          <p:cNvPr id="10" name="Text 7"/>
          <p:cNvSpPr/>
          <p:nvPr/>
        </p:nvSpPr>
        <p:spPr>
          <a:xfrm>
            <a:off x="428625" y="3154635"/>
            <a:ext cx="5089922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897B"/>
                </a:solidFill>
              </a:rPr>
              <a:t>return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263238"/>
                </a:solidFill>
              </a:rPr>
              <a:t> – Average realized return in decile</a:t>
            </a:r>
            <a:endParaRPr lang="en-US" sz="734" dirty="0"/>
          </a:p>
        </p:txBody>
      </p:sp>
      <p:sp>
        <p:nvSpPr>
          <p:cNvPr id="11" name="Text 8"/>
          <p:cNvSpPr/>
          <p:nvPr/>
        </p:nvSpPr>
        <p:spPr>
          <a:xfrm>
            <a:off x="428625" y="3386082"/>
            <a:ext cx="5089922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897B"/>
                </a:solidFill>
              </a:rPr>
              <a:t>predict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263238"/>
                </a:solidFill>
              </a:rPr>
              <a:t> – Average predicted return rank in decile</a:t>
            </a:r>
            <a:endParaRPr lang="en-US" sz="734" dirty="0"/>
          </a:p>
        </p:txBody>
      </p:sp>
      <p:sp>
        <p:nvSpPr>
          <p:cNvPr id="12" name="Shape 9"/>
          <p:cNvSpPr/>
          <p:nvPr/>
        </p:nvSpPr>
        <p:spPr>
          <a:xfrm>
            <a:off x="428625" y="3760403"/>
            <a:ext cx="5089922" cy="1007269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Shape 10"/>
          <p:cNvSpPr/>
          <p:nvPr/>
        </p:nvSpPr>
        <p:spPr>
          <a:xfrm>
            <a:off x="428625" y="3760403"/>
            <a:ext cx="42863" cy="1007269"/>
          </a:xfrm>
          <a:prstGeom prst="rect">
            <a:avLst/>
          </a:prstGeom>
          <a:solidFill>
            <a:srgbClr val="D84315"/>
          </a:solidFill>
          <a:ln/>
        </p:spPr>
      </p:sp>
      <p:sp>
        <p:nvSpPr>
          <p:cNvPr id="14" name="Text 11"/>
          <p:cNvSpPr/>
          <p:nvPr/>
        </p:nvSpPr>
        <p:spPr>
          <a:xfrm>
            <a:off x="892969" y="5383485"/>
            <a:ext cx="57150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00897B"/>
                </a:solidFill>
              </a:rPr>
              <a:t>▸</a:t>
            </a:r>
            <a:endParaRPr lang="en-US" sz="784" dirty="0"/>
          </a:p>
        </p:txBody>
      </p:sp>
      <p:sp>
        <p:nvSpPr>
          <p:cNvPr id="15" name="Text 12"/>
          <p:cNvSpPr/>
          <p:nvPr/>
        </p:nvSpPr>
        <p:spPr>
          <a:xfrm>
            <a:off x="892969" y="5846350"/>
            <a:ext cx="57150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00897B"/>
                </a:solidFill>
              </a:rPr>
              <a:t>▸</a:t>
            </a:r>
            <a:endParaRPr lang="en-US" sz="784" dirty="0"/>
          </a:p>
        </p:txBody>
      </p:sp>
      <p:sp>
        <p:nvSpPr>
          <p:cNvPr id="16" name="Text 13"/>
          <p:cNvSpPr/>
          <p:nvPr/>
        </p:nvSpPr>
        <p:spPr>
          <a:xfrm>
            <a:off x="892969" y="6309271"/>
            <a:ext cx="57150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00897B"/>
                </a:solidFill>
              </a:rPr>
              <a:t>▸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892969" y="6772135"/>
            <a:ext cx="57150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00897B"/>
                </a:solidFill>
              </a:rPr>
              <a:t>▸</a:t>
            </a:r>
            <a:endParaRPr lang="en-US" sz="784" dirty="0"/>
          </a:p>
        </p:txBody>
      </p:sp>
      <p:sp>
        <p:nvSpPr>
          <p:cNvPr id="18" name="Text 15"/>
          <p:cNvSpPr/>
          <p:nvPr/>
        </p:nvSpPr>
        <p:spPr>
          <a:xfrm>
            <a:off x="571500" y="3903278"/>
            <a:ext cx="480417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Key Performance Result: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571500" y="4146166"/>
            <a:ext cx="4804172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D84315"/>
                </a:solidFill>
              </a:rPr>
              <a:t>2.50%</a:t>
            </a:r>
            <a:endParaRPr lang="en-US" sz="1397" dirty="0"/>
          </a:p>
        </p:txBody>
      </p:sp>
      <p:sp>
        <p:nvSpPr>
          <p:cNvPr id="20" name="Text 17"/>
          <p:cNvSpPr/>
          <p:nvPr/>
        </p:nvSpPr>
        <p:spPr>
          <a:xfrm>
            <a:off x="571500" y="4474778"/>
            <a:ext cx="480417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555555"/>
                </a:solidFill>
              </a:rPr>
              <a:t>Average monthly spread (Decile 10 − Decile 1)</a:t>
            </a:r>
            <a:endParaRPr lang="en-US" sz="683" dirty="0"/>
          </a:p>
        </p:txBody>
      </p:sp>
      <p:sp>
        <p:nvSpPr>
          <p:cNvPr id="21" name="Shape 18"/>
          <p:cNvSpPr/>
          <p:nvPr/>
        </p:nvSpPr>
        <p:spPr>
          <a:xfrm>
            <a:off x="5973961" y="1214438"/>
            <a:ext cx="2714625" cy="2714625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3961" y="1214438"/>
            <a:ext cx="2714625" cy="27146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977243"/>
          </a:xfrm>
          <a:prstGeom prst="rect">
            <a:avLst/>
          </a:prstGeom>
          <a:noFill/>
          <a:ln/>
        </p:spPr>
        <p:txBody>
          <a:bodyPr wrap="square" lIns="510286" tIns="425196" rIns="510286" bIns="340233" rtlCol="0" anchor="t">
            <a:sp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8" b="1" dirty="0">
                <a:solidFill>
                  <a:srgbClr val="1A237E"/>
                </a:solidFill>
              </a:rPr>
              <a:t>Current Month Predictions: data4_current.xlsx</a:t>
            </a:r>
            <a:endParaRPr lang="en-US" sz="1808" dirty="0"/>
          </a:p>
        </p:txBody>
      </p:sp>
      <p:sp>
        <p:nvSpPr>
          <p:cNvPr id="4" name="Shape 1"/>
          <p:cNvSpPr/>
          <p:nvPr/>
        </p:nvSpPr>
        <p:spPr>
          <a:xfrm>
            <a:off x="428625" y="977243"/>
            <a:ext cx="5161945" cy="307181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977243"/>
            <a:ext cx="5161945" cy="30718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Purpose</a:t>
            </a: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428625" y="1341574"/>
            <a:ext cx="5161945" cy="1639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263238"/>
                </a:solidFill>
              </a:rPr>
              <a:t>Provides current month predictions for live trading or analysis</a:t>
            </a:r>
            <a:endParaRPr lang="en-US" sz="834" dirty="0"/>
          </a:p>
        </p:txBody>
      </p:sp>
      <p:sp>
        <p:nvSpPr>
          <p:cNvPr id="7" name="Shape 4"/>
          <p:cNvSpPr/>
          <p:nvPr/>
        </p:nvSpPr>
        <p:spPr>
          <a:xfrm>
            <a:off x="428625" y="1605530"/>
            <a:ext cx="5161945" cy="307181"/>
          </a:xfrm>
          <a:prstGeom prst="rect">
            <a:avLst/>
          </a:prstGeom>
          <a:solidFill>
            <a:srgbClr val="D84315"/>
          </a:solidFill>
          <a:ln/>
        </p:spPr>
      </p:sp>
      <p:sp>
        <p:nvSpPr>
          <p:cNvPr id="8" name="Text 5"/>
          <p:cNvSpPr/>
          <p:nvPr/>
        </p:nvSpPr>
        <p:spPr>
          <a:xfrm>
            <a:off x="428625" y="1605530"/>
            <a:ext cx="5161945" cy="30718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Creation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428625" y="1969861"/>
            <a:ext cx="5161945" cy="1639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263238"/>
                </a:solidFill>
              </a:rPr>
              <a:t>Created by Step 4 of </a:t>
            </a:r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897B"/>
                </a:solidFill>
              </a:rPr>
              <a:t>train_predict_data4.py</a:t>
            </a:r>
            <a:endParaRPr lang="en-US" sz="834" dirty="0"/>
          </a:p>
        </p:txBody>
      </p:sp>
      <p:sp>
        <p:nvSpPr>
          <p:cNvPr id="10" name="Shape 7"/>
          <p:cNvSpPr/>
          <p:nvPr/>
        </p:nvSpPr>
        <p:spPr>
          <a:xfrm>
            <a:off x="428625" y="2233817"/>
            <a:ext cx="5161945" cy="307181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1" name="Text 8"/>
          <p:cNvSpPr/>
          <p:nvPr/>
        </p:nvSpPr>
        <p:spPr>
          <a:xfrm>
            <a:off x="428625" y="2233817"/>
            <a:ext cx="5161945" cy="30718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Training Window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428625" y="2598148"/>
            <a:ext cx="5161945" cy="1639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263238"/>
                </a:solidFill>
              </a:rPr>
              <a:t>Trains on the last </a:t>
            </a:r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1A237E"/>
                </a:solidFill>
              </a:rPr>
              <a:t>12 complete months</a:t>
            </a:r>
            <a:endParaRPr lang="en-US" sz="834" dirty="0"/>
          </a:p>
        </p:txBody>
      </p:sp>
      <p:sp>
        <p:nvSpPr>
          <p:cNvPr id="13" name="Shape 10"/>
          <p:cNvSpPr/>
          <p:nvPr/>
        </p:nvSpPr>
        <p:spPr>
          <a:xfrm>
            <a:off x="428625" y="2862104"/>
            <a:ext cx="5161945" cy="307181"/>
          </a:xfrm>
          <a:prstGeom prst="rect">
            <a:avLst/>
          </a:prstGeom>
          <a:solidFill>
            <a:srgbClr val="D84315"/>
          </a:solidFill>
          <a:ln/>
        </p:spPr>
      </p:sp>
      <p:sp>
        <p:nvSpPr>
          <p:cNvPr id="14" name="Text 11"/>
          <p:cNvSpPr/>
          <p:nvPr/>
        </p:nvSpPr>
        <p:spPr>
          <a:xfrm>
            <a:off x="428625" y="2862104"/>
            <a:ext cx="5161945" cy="30718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Key Columns</a:t>
            </a:r>
            <a:endParaRPr lang="en-US" sz="885" dirty="0"/>
          </a:p>
        </p:txBody>
      </p:sp>
      <p:sp>
        <p:nvSpPr>
          <p:cNvPr id="15" name="Text 12"/>
          <p:cNvSpPr/>
          <p:nvPr/>
        </p:nvSpPr>
        <p:spPr>
          <a:xfrm>
            <a:off x="428625" y="3226436"/>
            <a:ext cx="5161945" cy="1639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897B"/>
                </a:solidFill>
              </a:rPr>
              <a:t>ticker</a:t>
            </a:r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263238"/>
                </a:solidFill>
              </a:rPr>
              <a:t> – Stock ticker symbol</a:t>
            </a:r>
            <a:endParaRPr lang="en-US" sz="734" dirty="0"/>
          </a:p>
        </p:txBody>
      </p:sp>
      <p:sp>
        <p:nvSpPr>
          <p:cNvPr id="16" name="Text 13"/>
          <p:cNvSpPr/>
          <p:nvPr/>
        </p:nvSpPr>
        <p:spPr>
          <a:xfrm>
            <a:off x="428625" y="3418954"/>
            <a:ext cx="5161945" cy="1639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897B"/>
                </a:solidFill>
              </a:rPr>
              <a:t>predict</a:t>
            </a:r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263238"/>
                </a:solidFill>
              </a:rPr>
              <a:t> – Predicted return rank (sorted highest to lowest)</a:t>
            </a:r>
            <a:endParaRPr lang="en-US" sz="734" dirty="0"/>
          </a:p>
        </p:txBody>
      </p:sp>
      <p:sp>
        <p:nvSpPr>
          <p:cNvPr id="17" name="Text 14"/>
          <p:cNvSpPr/>
          <p:nvPr/>
        </p:nvSpPr>
        <p:spPr>
          <a:xfrm>
            <a:off x="428625" y="3611473"/>
            <a:ext cx="5161945" cy="16394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263238"/>
                </a:solidFill>
              </a:rPr>
              <a:t>All features from </a:t>
            </a:r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897B"/>
                </a:solidFill>
              </a:rPr>
              <a:t>data4.parquet</a:t>
            </a:r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263238"/>
                </a:solidFill>
              </a:rPr>
              <a:t> for current month</a:t>
            </a:r>
            <a:endParaRPr lang="en-US" sz="834" dirty="0"/>
          </a:p>
        </p:txBody>
      </p:sp>
      <p:sp>
        <p:nvSpPr>
          <p:cNvPr id="18" name="Shape 15"/>
          <p:cNvSpPr/>
          <p:nvPr/>
        </p:nvSpPr>
        <p:spPr>
          <a:xfrm>
            <a:off x="428625" y="3875429"/>
            <a:ext cx="5161945" cy="307181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9" name="Text 16"/>
          <p:cNvSpPr/>
          <p:nvPr/>
        </p:nvSpPr>
        <p:spPr>
          <a:xfrm>
            <a:off x="428625" y="3875429"/>
            <a:ext cx="5161945" cy="30718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Use Cases</a:t>
            </a:r>
            <a:endParaRPr lang="en-US" sz="885" dirty="0"/>
          </a:p>
        </p:txBody>
      </p:sp>
      <p:sp>
        <p:nvSpPr>
          <p:cNvPr id="20" name="Text 17"/>
          <p:cNvSpPr/>
          <p:nvPr/>
        </p:nvSpPr>
        <p:spPr>
          <a:xfrm>
            <a:off x="428625" y="4239760"/>
            <a:ext cx="5161945" cy="14856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4" b="1" dirty="0">
                <a:solidFill>
                  <a:srgbClr val="263238"/>
                </a:solidFill>
              </a:rPr>
              <a:t>Identify top/bottom predicted stocks</a:t>
            </a:r>
            <a:endParaRPr lang="en-US" sz="784" dirty="0"/>
          </a:p>
        </p:txBody>
      </p:sp>
      <p:sp>
        <p:nvSpPr>
          <p:cNvPr id="21" name="Text 18"/>
          <p:cNvSpPr/>
          <p:nvPr/>
        </p:nvSpPr>
        <p:spPr>
          <a:xfrm>
            <a:off x="428625" y="4416902"/>
            <a:ext cx="5161945" cy="14856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4" b="1" dirty="0">
                <a:solidFill>
                  <a:srgbClr val="263238"/>
                </a:solidFill>
              </a:rPr>
              <a:t>Analyze stock characteristics</a:t>
            </a:r>
            <a:endParaRPr lang="en-US" sz="784" dirty="0"/>
          </a:p>
        </p:txBody>
      </p:sp>
      <p:sp>
        <p:nvSpPr>
          <p:cNvPr id="22" name="Text 19"/>
          <p:cNvSpPr/>
          <p:nvPr/>
        </p:nvSpPr>
        <p:spPr>
          <a:xfrm>
            <a:off x="428625" y="4594045"/>
            <a:ext cx="5161945" cy="148568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4" b="1" dirty="0">
                <a:solidFill>
                  <a:srgbClr val="263238"/>
                </a:solidFill>
              </a:rPr>
              <a:t>Construct portfolios based on predictions</a:t>
            </a:r>
            <a:endParaRPr lang="en-US" sz="784" dirty="0"/>
          </a:p>
        </p:txBody>
      </p:sp>
      <p:sp>
        <p:nvSpPr>
          <p:cNvPr id="23" name="Text 20"/>
          <p:cNvSpPr/>
          <p:nvPr/>
        </p:nvSpPr>
        <p:spPr>
          <a:xfrm>
            <a:off x="428625" y="4239760"/>
            <a:ext cx="82628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4" b="1" dirty="0">
                <a:solidFill>
                  <a:srgbClr val="00897B"/>
                </a:solidFill>
              </a:rPr>
              <a:t>✓</a:t>
            </a:r>
            <a:endParaRPr lang="en-US" sz="784" dirty="0"/>
          </a:p>
        </p:txBody>
      </p:sp>
      <p:sp>
        <p:nvSpPr>
          <p:cNvPr id="24" name="Text 21"/>
          <p:cNvSpPr/>
          <p:nvPr/>
        </p:nvSpPr>
        <p:spPr>
          <a:xfrm>
            <a:off x="428625" y="4416902"/>
            <a:ext cx="82628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4" b="1" dirty="0">
                <a:solidFill>
                  <a:srgbClr val="00897B"/>
                </a:solidFill>
              </a:rPr>
              <a:t>✓</a:t>
            </a:r>
            <a:endParaRPr lang="en-US" sz="784" dirty="0"/>
          </a:p>
        </p:txBody>
      </p:sp>
      <p:sp>
        <p:nvSpPr>
          <p:cNvPr id="25" name="Text 22"/>
          <p:cNvSpPr/>
          <p:nvPr/>
        </p:nvSpPr>
        <p:spPr>
          <a:xfrm>
            <a:off x="428625" y="4594045"/>
            <a:ext cx="82628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4" b="1" dirty="0">
                <a:solidFill>
                  <a:srgbClr val="00897B"/>
                </a:solidFill>
              </a:rPr>
              <a:t>✓</a:t>
            </a:r>
            <a:endParaRPr lang="en-US" sz="784" dirty="0"/>
          </a:p>
        </p:txBody>
      </p:sp>
      <p:sp>
        <p:nvSpPr>
          <p:cNvPr id="26" name="Shape 23"/>
          <p:cNvSpPr/>
          <p:nvPr/>
        </p:nvSpPr>
        <p:spPr>
          <a:xfrm>
            <a:off x="5938521" y="1766934"/>
            <a:ext cx="2714625" cy="2286000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8521" y="1766934"/>
            <a:ext cx="2714625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977243"/>
          </a:xfrm>
          <a:prstGeom prst="rect">
            <a:avLst/>
          </a:prstGeom>
          <a:noFill/>
          <a:ln/>
        </p:spPr>
        <p:txBody>
          <a:bodyPr wrap="square" lIns="510286" tIns="425196" rIns="510286" bIns="340233" rtlCol="0" anchor="t">
            <a:sp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8" b="1" dirty="0">
                <a:solidFill>
                  <a:srgbClr val="1A237E"/>
                </a:solidFill>
              </a:rPr>
              <a:t>Analyzing Performance: analyze_portfolios.ipynb</a:t>
            </a:r>
            <a:endParaRPr lang="en-US" sz="1808" dirty="0"/>
          </a:p>
        </p:txBody>
      </p:sp>
      <p:sp>
        <p:nvSpPr>
          <p:cNvPr id="4" name="Shape 1"/>
          <p:cNvSpPr/>
          <p:nvPr/>
        </p:nvSpPr>
        <p:spPr>
          <a:xfrm>
            <a:off x="428625" y="977243"/>
            <a:ext cx="5161945" cy="335756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977243"/>
            <a:ext cx="5161945" cy="335756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Purpose</a:t>
            </a: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428625" y="1398724"/>
            <a:ext cx="5161945" cy="194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34" b="1" dirty="0">
                <a:solidFill>
                  <a:srgbClr val="263238"/>
                </a:solidFill>
              </a:rPr>
              <a:t>Jupyter notebook for in-depth analysis of decile portfolio performance</a:t>
            </a:r>
            <a:endParaRPr lang="en-US" sz="834" dirty="0"/>
          </a:p>
        </p:txBody>
      </p:sp>
      <p:sp>
        <p:nvSpPr>
          <p:cNvPr id="7" name="Shape 4"/>
          <p:cNvSpPr/>
          <p:nvPr/>
        </p:nvSpPr>
        <p:spPr>
          <a:xfrm>
            <a:off x="428625" y="1764478"/>
            <a:ext cx="5161945" cy="335756"/>
          </a:xfrm>
          <a:prstGeom prst="rect">
            <a:avLst/>
          </a:prstGeom>
          <a:solidFill>
            <a:srgbClr val="D84315"/>
          </a:solidFill>
          <a:ln/>
        </p:spPr>
      </p:sp>
      <p:sp>
        <p:nvSpPr>
          <p:cNvPr id="8" name="Text 5"/>
          <p:cNvSpPr/>
          <p:nvPr/>
        </p:nvSpPr>
        <p:spPr>
          <a:xfrm>
            <a:off x="428625" y="1764478"/>
            <a:ext cx="5161945" cy="335756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Input &amp; Output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428625" y="2185960"/>
            <a:ext cx="5161945" cy="194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34" b="1" dirty="0">
                <a:solidFill>
                  <a:srgbClr val="263238"/>
                </a:solidFill>
              </a:rPr>
              <a:t>Reads: </a:t>
            </a:r>
            <a:pPr algn="l" indent="0" marL="0">
              <a:lnSpc>
                <a:spcPts val="1500"/>
              </a:lnSpc>
              <a:buNone/>
            </a:pPr>
            <a:r>
              <a:rPr lang="en-US" sz="734" b="1" dirty="0">
                <a:solidFill>
                  <a:srgbClr val="00897B"/>
                </a:solidFill>
              </a:rPr>
              <a:t>data4_portfolios.csv</a:t>
            </a:r>
            <a:pPr algn="l" indent="0" marL="0">
              <a:lnSpc>
                <a:spcPts val="1500"/>
              </a:lnSpc>
              <a:buNone/>
            </a:pPr>
            <a:r>
              <a:rPr lang="en-US" sz="834" b="1" dirty="0">
                <a:solidFill>
                  <a:srgbClr val="263238"/>
                </a:solidFill>
              </a:rPr>
              <a:t> (165 months × 10 deciles)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428625" y="2437414"/>
            <a:ext cx="5161945" cy="194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34" b="1" dirty="0">
                <a:solidFill>
                  <a:srgbClr val="263238"/>
                </a:solidFill>
              </a:rPr>
              <a:t>Creates publication-quality visualizations and statistics, saving three PNG figures</a:t>
            </a:r>
            <a:endParaRPr lang="en-US" sz="834" dirty="0"/>
          </a:p>
        </p:txBody>
      </p:sp>
      <p:sp>
        <p:nvSpPr>
          <p:cNvPr id="11" name="Shape 8"/>
          <p:cNvSpPr/>
          <p:nvPr/>
        </p:nvSpPr>
        <p:spPr>
          <a:xfrm>
            <a:off x="428625" y="2803168"/>
            <a:ext cx="5161945" cy="335756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2" name="Text 9"/>
          <p:cNvSpPr/>
          <p:nvPr/>
        </p:nvSpPr>
        <p:spPr>
          <a:xfrm>
            <a:off x="428625" y="2803168"/>
            <a:ext cx="5161945" cy="335756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Analysis Components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428625" y="3224650"/>
            <a:ext cx="5161945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263238"/>
                </a:solidFill>
              </a:rPr>
              <a:t>Mean returns bar chart by decile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428625" y="3456096"/>
            <a:ext cx="5161945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263238"/>
                </a:solidFill>
              </a:rPr>
              <a:t>Sharpe ratios bar chart by decile</a:t>
            </a:r>
            <a:endParaRPr lang="en-US" sz="784" dirty="0"/>
          </a:p>
        </p:txBody>
      </p:sp>
      <p:sp>
        <p:nvSpPr>
          <p:cNvPr id="15" name="Text 12"/>
          <p:cNvSpPr/>
          <p:nvPr/>
        </p:nvSpPr>
        <p:spPr>
          <a:xfrm>
            <a:off x="428625" y="3687542"/>
            <a:ext cx="5161945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263238"/>
                </a:solidFill>
              </a:rPr>
              <a:t>Cumulative returns (linear and log scale subplots)</a:t>
            </a:r>
            <a:endParaRPr lang="en-US" sz="784" dirty="0"/>
          </a:p>
        </p:txBody>
      </p:sp>
      <p:sp>
        <p:nvSpPr>
          <p:cNvPr id="16" name="Text 13"/>
          <p:cNvSpPr/>
          <p:nvPr/>
        </p:nvSpPr>
        <p:spPr>
          <a:xfrm>
            <a:off x="428625" y="3918989"/>
            <a:ext cx="5161945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263238"/>
                </a:solidFill>
              </a:rPr>
              <a:t>Summary statistics (mean, volatility, Sharpe, min, max)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428625" y="4150435"/>
            <a:ext cx="5161945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263238"/>
                </a:solidFill>
              </a:rPr>
              <a:t>Long-short portfolio (D10 − D1 spread performance)</a:t>
            </a:r>
            <a:endParaRPr lang="en-US" sz="784" dirty="0"/>
          </a:p>
        </p:txBody>
      </p:sp>
      <p:sp>
        <p:nvSpPr>
          <p:cNvPr id="18" name="Text 15"/>
          <p:cNvSpPr/>
          <p:nvPr/>
        </p:nvSpPr>
        <p:spPr>
          <a:xfrm>
            <a:off x="428625" y="3224650"/>
            <a:ext cx="57150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00897B"/>
                </a:solidFill>
              </a:rPr>
              <a:t>▸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428625" y="3456096"/>
            <a:ext cx="57150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00897B"/>
                </a:solidFill>
              </a:rPr>
              <a:t>▸</a:t>
            </a:r>
            <a:endParaRPr lang="en-US" sz="784" dirty="0"/>
          </a:p>
        </p:txBody>
      </p:sp>
      <p:sp>
        <p:nvSpPr>
          <p:cNvPr id="20" name="Text 17"/>
          <p:cNvSpPr/>
          <p:nvPr/>
        </p:nvSpPr>
        <p:spPr>
          <a:xfrm>
            <a:off x="428625" y="3687542"/>
            <a:ext cx="57150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00897B"/>
                </a:solidFill>
              </a:rPr>
              <a:t>▸</a:t>
            </a:r>
            <a:endParaRPr lang="en-US" sz="784" dirty="0"/>
          </a:p>
        </p:txBody>
      </p:sp>
      <p:sp>
        <p:nvSpPr>
          <p:cNvPr id="21" name="Text 18"/>
          <p:cNvSpPr/>
          <p:nvPr/>
        </p:nvSpPr>
        <p:spPr>
          <a:xfrm>
            <a:off x="428625" y="3918989"/>
            <a:ext cx="57150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00897B"/>
                </a:solidFill>
              </a:rPr>
              <a:t>▸</a:t>
            </a:r>
            <a:endParaRPr lang="en-US" sz="784" dirty="0"/>
          </a:p>
        </p:txBody>
      </p:sp>
      <p:sp>
        <p:nvSpPr>
          <p:cNvPr id="22" name="Text 19"/>
          <p:cNvSpPr/>
          <p:nvPr/>
        </p:nvSpPr>
        <p:spPr>
          <a:xfrm>
            <a:off x="428625" y="4150435"/>
            <a:ext cx="57150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00897B"/>
                </a:solidFill>
              </a:rPr>
              <a:t>▸</a:t>
            </a:r>
            <a:endParaRPr lang="en-US" sz="784" dirty="0"/>
          </a:p>
        </p:txBody>
      </p:sp>
      <p:sp>
        <p:nvSpPr>
          <p:cNvPr id="23" name="Shape 20"/>
          <p:cNvSpPr/>
          <p:nvPr/>
        </p:nvSpPr>
        <p:spPr>
          <a:xfrm>
            <a:off x="5938521" y="1586554"/>
            <a:ext cx="2714625" cy="2286000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8521" y="1586554"/>
            <a:ext cx="2714625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977243"/>
          </a:xfrm>
          <a:prstGeom prst="rect">
            <a:avLst/>
          </a:prstGeom>
          <a:noFill/>
          <a:ln/>
        </p:spPr>
        <p:txBody>
          <a:bodyPr wrap="square" lIns="510286" tIns="425196" rIns="510286" bIns="340233" rtlCol="0" anchor="t">
            <a:sp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8" b="1" dirty="0">
                <a:solidFill>
                  <a:srgbClr val="1A237E"/>
                </a:solidFill>
              </a:rPr>
              <a:t>Interpreting the Model: analyze_model_features.ipynb</a:t>
            </a:r>
            <a:endParaRPr lang="en-US" sz="1808" dirty="0"/>
          </a:p>
        </p:txBody>
      </p:sp>
      <p:sp>
        <p:nvSpPr>
          <p:cNvPr id="4" name="Text 1"/>
          <p:cNvSpPr/>
          <p:nvPr/>
        </p:nvSpPr>
        <p:spPr>
          <a:xfrm>
            <a:off x="428625" y="1425178"/>
            <a:ext cx="5161945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63238"/>
                </a:solidFill>
              </a:rPr>
              <a:t>Jupyter notebook for analyzing how the trained LightGBM model uses features to </a:t>
            </a:r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63238"/>
                </a:solidFill>
              </a:rPr>
              <a:t>make predictions. Reads </a:t>
            </a:r>
            <a:pPr algn="l" indent="0" marL="0">
              <a:lnSpc>
                <a:spcPts val="1500"/>
              </a:lnSpc>
              <a:buNone/>
            </a:pPr>
            <a:r>
              <a:rPr lang="en-US" sz="683" b="1" dirty="0">
                <a:solidFill>
                  <a:srgbClr val="00897B"/>
                </a:solidFill>
              </a:rPr>
              <a:t>data4_model.pkl</a:t>
            </a:r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63238"/>
                </a:solidFill>
              </a:rPr>
              <a:t> and </a:t>
            </a:r>
            <a:pPr algn="l" indent="0" marL="0">
              <a:lnSpc>
                <a:spcPts val="1500"/>
              </a:lnSpc>
              <a:buNone/>
            </a:pPr>
            <a:r>
              <a:rPr lang="en-US" sz="683" b="1" dirty="0">
                <a:solidFill>
                  <a:srgbClr val="00897B"/>
                </a:solidFill>
              </a:rPr>
              <a:t>data4_current.xlsx</a:t>
            </a:r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263238"/>
                </a:solidFill>
              </a:rPr>
              <a:t>.</a:t>
            </a:r>
            <a:endParaRPr lang="en-US" sz="885" dirty="0"/>
          </a:p>
        </p:txBody>
      </p:sp>
      <p:sp>
        <p:nvSpPr>
          <p:cNvPr id="5" name="Text 2"/>
          <p:cNvSpPr/>
          <p:nvPr/>
        </p:nvSpPr>
        <p:spPr>
          <a:xfrm>
            <a:off x="428625" y="2010966"/>
            <a:ext cx="5161945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A237E"/>
                </a:solidFill>
              </a:rPr>
              <a:t>Analysis Components:</a:t>
            </a:r>
            <a:endParaRPr lang="en-US" sz="885" dirty="0"/>
          </a:p>
        </p:txBody>
      </p:sp>
      <p:sp>
        <p:nvSpPr>
          <p:cNvPr id="6" name="Shape 3"/>
          <p:cNvSpPr/>
          <p:nvPr/>
        </p:nvSpPr>
        <p:spPr>
          <a:xfrm>
            <a:off x="428625" y="2346722"/>
            <a:ext cx="257175" cy="257175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7" name="Text 4"/>
          <p:cNvSpPr/>
          <p:nvPr/>
        </p:nvSpPr>
        <p:spPr>
          <a:xfrm>
            <a:off x="428625" y="2346722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1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785813" y="2346722"/>
            <a:ext cx="3045749" cy="174296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263238"/>
                </a:solidFill>
              </a:rPr>
              <a:t>Feature importances pie chart from LightGBM split gain</a:t>
            </a:r>
            <a:endParaRPr lang="en-US" sz="784" dirty="0"/>
          </a:p>
        </p:txBody>
      </p:sp>
      <p:sp>
        <p:nvSpPr>
          <p:cNvPr id="9" name="Shape 6"/>
          <p:cNvSpPr/>
          <p:nvPr/>
        </p:nvSpPr>
        <p:spPr>
          <a:xfrm>
            <a:off x="428625" y="2718197"/>
            <a:ext cx="257175" cy="257175"/>
          </a:xfrm>
          <a:prstGeom prst="rect">
            <a:avLst/>
          </a:prstGeom>
          <a:solidFill>
            <a:srgbClr val="D84315"/>
          </a:solidFill>
          <a:ln/>
        </p:spPr>
      </p:sp>
      <p:sp>
        <p:nvSpPr>
          <p:cNvPr id="10" name="Text 7"/>
          <p:cNvSpPr/>
          <p:nvPr/>
        </p:nvSpPr>
        <p:spPr>
          <a:xfrm>
            <a:off x="428625" y="2718197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2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785813" y="2718197"/>
            <a:ext cx="3386835" cy="174296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263238"/>
                </a:solidFill>
              </a:rPr>
              <a:t>Linear regression of predictions on percentile-ranked features</a:t>
            </a:r>
            <a:endParaRPr lang="en-US" sz="784" dirty="0"/>
          </a:p>
        </p:txBody>
      </p:sp>
      <p:sp>
        <p:nvSpPr>
          <p:cNvPr id="12" name="Shape 9"/>
          <p:cNvSpPr/>
          <p:nvPr/>
        </p:nvSpPr>
        <p:spPr>
          <a:xfrm>
            <a:off x="428625" y="3089672"/>
            <a:ext cx="257175" cy="257175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3" name="Text 10"/>
          <p:cNvSpPr/>
          <p:nvPr/>
        </p:nvSpPr>
        <p:spPr>
          <a:xfrm>
            <a:off x="428625" y="3089672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3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785813" y="3089672"/>
            <a:ext cx="2934212" cy="174296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263238"/>
                </a:solidFill>
              </a:rPr>
              <a:t>Coefficient bar chart (positive = green, negative = red)</a:t>
            </a:r>
            <a:endParaRPr lang="en-US" sz="784" dirty="0"/>
          </a:p>
        </p:txBody>
      </p:sp>
      <p:sp>
        <p:nvSpPr>
          <p:cNvPr id="15" name="Shape 12"/>
          <p:cNvSpPr/>
          <p:nvPr/>
        </p:nvSpPr>
        <p:spPr>
          <a:xfrm>
            <a:off x="428625" y="3461147"/>
            <a:ext cx="257175" cy="257175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16" name="Text 13"/>
          <p:cNvSpPr/>
          <p:nvPr/>
        </p:nvSpPr>
        <p:spPr>
          <a:xfrm>
            <a:off x="428625" y="3461147"/>
            <a:ext cx="2571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4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785813" y="3461147"/>
            <a:ext cx="3643787" cy="174296"/>
          </a:xfrm>
          <a:prstGeom prst="rect">
            <a:avLst/>
          </a:prstGeom>
          <a:noFill/>
          <a:ln/>
        </p:spPr>
        <p:txBody>
          <a:bodyPr wrap="none" lIns="0" tIns="17018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263238"/>
                </a:solidFill>
              </a:rPr>
              <a:t>Comparison table of feature importance ranks vs. coefficient ranks</a:t>
            </a:r>
            <a:endParaRPr lang="en-US" sz="784" dirty="0"/>
          </a:p>
        </p:txBody>
      </p:sp>
      <p:sp>
        <p:nvSpPr>
          <p:cNvPr id="18" name="Shape 15"/>
          <p:cNvSpPr/>
          <p:nvPr/>
        </p:nvSpPr>
        <p:spPr>
          <a:xfrm>
            <a:off x="428625" y="3889772"/>
            <a:ext cx="5161945" cy="805793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9" name="Shape 16"/>
          <p:cNvSpPr/>
          <p:nvPr/>
        </p:nvSpPr>
        <p:spPr>
          <a:xfrm>
            <a:off x="428625" y="3889772"/>
            <a:ext cx="42863" cy="805793"/>
          </a:xfrm>
          <a:prstGeom prst="rect">
            <a:avLst/>
          </a:prstGeom>
          <a:solidFill>
            <a:srgbClr val="D84315"/>
          </a:solidFill>
          <a:ln/>
        </p:spPr>
      </p:sp>
      <p:sp>
        <p:nvSpPr>
          <p:cNvPr id="20" name="Text 17"/>
          <p:cNvSpPr/>
          <p:nvPr/>
        </p:nvSpPr>
        <p:spPr>
          <a:xfrm>
            <a:off x="542925" y="4018359"/>
            <a:ext cx="493334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Key Insight:</a:t>
            </a:r>
            <a:endParaRPr lang="en-US" sz="784" dirty="0"/>
          </a:p>
        </p:txBody>
      </p:sp>
      <p:sp>
        <p:nvSpPr>
          <p:cNvPr id="21" name="Text 18"/>
          <p:cNvSpPr/>
          <p:nvPr/>
        </p:nvSpPr>
        <p:spPr>
          <a:xfrm>
            <a:off x="542925" y="4246959"/>
            <a:ext cx="493334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263238"/>
                </a:solidFill>
              </a:rPr>
              <a:t>Large rank differences between importance and coefficients reveal </a:t>
            </a:r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263238"/>
                </a:solidFill>
              </a:rPr>
              <a:t>non-linear feature effects</a:t>
            </a:r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263238"/>
                </a:solidFill>
              </a:rPr>
              <a:t> in the model</a:t>
            </a:r>
            <a:endParaRPr lang="en-US" sz="784" dirty="0"/>
          </a:p>
        </p:txBody>
      </p:sp>
      <p:sp>
        <p:nvSpPr>
          <p:cNvPr id="22" name="Shape 19"/>
          <p:cNvSpPr/>
          <p:nvPr/>
        </p:nvSpPr>
        <p:spPr>
          <a:xfrm>
            <a:off x="5938521" y="1917371"/>
            <a:ext cx="2714625" cy="2286000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8521" y="1917371"/>
            <a:ext cx="2714625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6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016" b="1" dirty="0">
                <a:solidFill>
                  <a:srgbClr val="1A237E"/>
                </a:solidFill>
              </a:rPr>
              <a:t>LightGBM Hyperparameters for Return Prediction</a:t>
            </a:r>
            <a:endParaRPr lang="en-US" sz="2016" dirty="0"/>
          </a:p>
        </p:txBody>
      </p:sp>
      <p:sp>
        <p:nvSpPr>
          <p:cNvPr id="4" name="Shape 1"/>
          <p:cNvSpPr/>
          <p:nvPr/>
        </p:nvSpPr>
        <p:spPr>
          <a:xfrm>
            <a:off x="428625" y="1214438"/>
            <a:ext cx="4057650" cy="307181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1214438"/>
            <a:ext cx="4057650" cy="30718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Tree Structure</a:t>
            </a: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428625" y="1607344"/>
            <a:ext cx="405765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897B"/>
                </a:solidFill>
              </a:rPr>
              <a:t>num_leaves</a:t>
            </a:r>
            <a:endParaRPr lang="en-US" sz="734" dirty="0"/>
          </a:p>
        </p:txBody>
      </p:sp>
      <p:sp>
        <p:nvSpPr>
          <p:cNvPr id="7" name="Text 4"/>
          <p:cNvSpPr/>
          <p:nvPr/>
        </p:nvSpPr>
        <p:spPr>
          <a:xfrm>
            <a:off x="428625" y="1782366"/>
            <a:ext cx="405765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1A237E"/>
                </a:solidFill>
              </a:rPr>
              <a:t>31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428625" y="1966652"/>
            <a:ext cx="40576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555555"/>
                </a:solidFill>
              </a:rPr>
              <a:t>Max leaves per tree (up to 30 splits/tree)</a:t>
            </a:r>
            <a:endParaRPr lang="en-US" sz="780" dirty="0"/>
          </a:p>
        </p:txBody>
      </p:sp>
      <p:sp>
        <p:nvSpPr>
          <p:cNvPr id="9" name="Text 6"/>
          <p:cNvSpPr/>
          <p:nvPr/>
        </p:nvSpPr>
        <p:spPr>
          <a:xfrm>
            <a:off x="428625" y="2191680"/>
            <a:ext cx="405765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897B"/>
                </a:solidFill>
              </a:rPr>
              <a:t>max_depth</a:t>
            </a:r>
            <a:endParaRPr lang="en-US" sz="734" dirty="0"/>
          </a:p>
        </p:txBody>
      </p:sp>
      <p:sp>
        <p:nvSpPr>
          <p:cNvPr id="10" name="Text 7"/>
          <p:cNvSpPr/>
          <p:nvPr/>
        </p:nvSpPr>
        <p:spPr>
          <a:xfrm>
            <a:off x="428625" y="2366702"/>
            <a:ext cx="405765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1A237E"/>
                </a:solidFill>
              </a:rPr>
              <a:t>6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428625" y="2550988"/>
            <a:ext cx="40576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555555"/>
                </a:solidFill>
              </a:rPr>
              <a:t>Shallow trees prevent overfitting to noise</a:t>
            </a:r>
            <a:endParaRPr lang="en-US" sz="780" dirty="0"/>
          </a:p>
        </p:txBody>
      </p:sp>
      <p:sp>
        <p:nvSpPr>
          <p:cNvPr id="12" name="Shape 9"/>
          <p:cNvSpPr/>
          <p:nvPr/>
        </p:nvSpPr>
        <p:spPr>
          <a:xfrm>
            <a:off x="4657725" y="1214438"/>
            <a:ext cx="4057650" cy="307181"/>
          </a:xfrm>
          <a:prstGeom prst="rect">
            <a:avLst/>
          </a:prstGeom>
          <a:solidFill>
            <a:srgbClr val="D84315"/>
          </a:solidFill>
          <a:ln/>
        </p:spPr>
      </p:sp>
      <p:sp>
        <p:nvSpPr>
          <p:cNvPr id="13" name="Text 10"/>
          <p:cNvSpPr/>
          <p:nvPr/>
        </p:nvSpPr>
        <p:spPr>
          <a:xfrm>
            <a:off x="4657725" y="1214438"/>
            <a:ext cx="4057650" cy="30718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Learning Parameters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4657725" y="1607344"/>
            <a:ext cx="405765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D84315"/>
                </a:solidFill>
              </a:rPr>
              <a:t>learning_rate</a:t>
            </a:r>
            <a:endParaRPr lang="en-US" sz="734" dirty="0"/>
          </a:p>
        </p:txBody>
      </p:sp>
      <p:sp>
        <p:nvSpPr>
          <p:cNvPr id="15" name="Text 12"/>
          <p:cNvSpPr/>
          <p:nvPr/>
        </p:nvSpPr>
        <p:spPr>
          <a:xfrm>
            <a:off x="4657725" y="1782366"/>
            <a:ext cx="405765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1A237E"/>
                </a:solidFill>
              </a:rPr>
              <a:t>0.05</a:t>
            </a:r>
            <a:endParaRPr lang="en-US" sz="834" dirty="0"/>
          </a:p>
        </p:txBody>
      </p:sp>
      <p:sp>
        <p:nvSpPr>
          <p:cNvPr id="16" name="Text 13"/>
          <p:cNvSpPr/>
          <p:nvPr/>
        </p:nvSpPr>
        <p:spPr>
          <a:xfrm>
            <a:off x="4657725" y="1966652"/>
            <a:ext cx="40576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555555"/>
                </a:solidFill>
              </a:rPr>
              <a:t>Moderate learning rate</a:t>
            </a:r>
            <a:endParaRPr lang="en-US" sz="780" dirty="0"/>
          </a:p>
        </p:txBody>
      </p:sp>
      <p:sp>
        <p:nvSpPr>
          <p:cNvPr id="17" name="Text 14"/>
          <p:cNvSpPr/>
          <p:nvPr/>
        </p:nvSpPr>
        <p:spPr>
          <a:xfrm>
            <a:off x="4657725" y="2191680"/>
            <a:ext cx="4057650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D84315"/>
                </a:solidFill>
              </a:rPr>
              <a:t>n_estimators</a:t>
            </a:r>
            <a:endParaRPr lang="en-US" sz="734" dirty="0"/>
          </a:p>
        </p:txBody>
      </p:sp>
      <p:sp>
        <p:nvSpPr>
          <p:cNvPr id="18" name="Text 15"/>
          <p:cNvSpPr/>
          <p:nvPr/>
        </p:nvSpPr>
        <p:spPr>
          <a:xfrm>
            <a:off x="4657725" y="2366702"/>
            <a:ext cx="4057650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1A237E"/>
                </a:solidFill>
              </a:rPr>
              <a:t>100</a:t>
            </a:r>
            <a:endParaRPr lang="en-US" sz="834" dirty="0"/>
          </a:p>
        </p:txBody>
      </p:sp>
      <p:sp>
        <p:nvSpPr>
          <p:cNvPr id="19" name="Text 16"/>
          <p:cNvSpPr/>
          <p:nvPr/>
        </p:nvSpPr>
        <p:spPr>
          <a:xfrm>
            <a:off x="4657725" y="2550988"/>
            <a:ext cx="4057650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555555"/>
                </a:solidFill>
              </a:rPr>
              <a:t>Fixed 100 boosting iterations (trees)</a:t>
            </a:r>
            <a:endParaRPr lang="en-US" sz="780" dirty="0"/>
          </a:p>
        </p:txBody>
      </p:sp>
      <p:sp>
        <p:nvSpPr>
          <p:cNvPr id="20" name="Shape 17"/>
          <p:cNvSpPr/>
          <p:nvPr/>
        </p:nvSpPr>
        <p:spPr>
          <a:xfrm>
            <a:off x="428625" y="2947467"/>
            <a:ext cx="4057650" cy="307181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1" name="Text 18"/>
          <p:cNvSpPr/>
          <p:nvPr/>
        </p:nvSpPr>
        <p:spPr>
          <a:xfrm>
            <a:off x="428625" y="2947467"/>
            <a:ext cx="4057650" cy="30718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Regularization</a:t>
            </a:r>
            <a:endParaRPr lang="en-US" sz="885" dirty="0"/>
          </a:p>
        </p:txBody>
      </p:sp>
      <p:sp>
        <p:nvSpPr>
          <p:cNvPr id="22" name="Text 19"/>
          <p:cNvSpPr/>
          <p:nvPr/>
        </p:nvSpPr>
        <p:spPr>
          <a:xfrm>
            <a:off x="428625" y="3340373"/>
            <a:ext cx="197167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897B"/>
                </a:solidFill>
              </a:rPr>
              <a:t>min_child_samples</a:t>
            </a:r>
            <a:endParaRPr lang="en-US" sz="734" dirty="0"/>
          </a:p>
        </p:txBody>
      </p:sp>
      <p:sp>
        <p:nvSpPr>
          <p:cNvPr id="23" name="Text 20"/>
          <p:cNvSpPr/>
          <p:nvPr/>
        </p:nvSpPr>
        <p:spPr>
          <a:xfrm>
            <a:off x="428625" y="3515395"/>
            <a:ext cx="197167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1A237E"/>
                </a:solidFill>
              </a:rPr>
              <a:t>50</a:t>
            </a:r>
            <a:endParaRPr lang="en-US" sz="834" dirty="0"/>
          </a:p>
        </p:txBody>
      </p:sp>
      <p:sp>
        <p:nvSpPr>
          <p:cNvPr id="24" name="Text 21"/>
          <p:cNvSpPr/>
          <p:nvPr/>
        </p:nvSpPr>
        <p:spPr>
          <a:xfrm>
            <a:off x="428625" y="3699681"/>
            <a:ext cx="197167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555555"/>
                </a:solidFill>
              </a:rPr>
              <a:t>Minimum samples per leaf</a:t>
            </a:r>
            <a:endParaRPr lang="en-US" sz="780" dirty="0"/>
          </a:p>
        </p:txBody>
      </p:sp>
      <p:sp>
        <p:nvSpPr>
          <p:cNvPr id="25" name="Text 22"/>
          <p:cNvSpPr/>
          <p:nvPr/>
        </p:nvSpPr>
        <p:spPr>
          <a:xfrm>
            <a:off x="2514600" y="3340373"/>
            <a:ext cx="197167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897B"/>
                </a:solidFill>
              </a:rPr>
              <a:t>subsample</a:t>
            </a:r>
            <a:endParaRPr lang="en-US" sz="734" dirty="0"/>
          </a:p>
        </p:txBody>
      </p:sp>
      <p:sp>
        <p:nvSpPr>
          <p:cNvPr id="26" name="Text 23"/>
          <p:cNvSpPr/>
          <p:nvPr/>
        </p:nvSpPr>
        <p:spPr>
          <a:xfrm>
            <a:off x="2514600" y="3515395"/>
            <a:ext cx="197167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1A237E"/>
                </a:solidFill>
              </a:rPr>
              <a:t>0.8</a:t>
            </a:r>
            <a:endParaRPr lang="en-US" sz="834" dirty="0"/>
          </a:p>
        </p:txBody>
      </p:sp>
      <p:sp>
        <p:nvSpPr>
          <p:cNvPr id="27" name="Text 24"/>
          <p:cNvSpPr/>
          <p:nvPr/>
        </p:nvSpPr>
        <p:spPr>
          <a:xfrm>
            <a:off x="2514600" y="3699681"/>
            <a:ext cx="197167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555555"/>
                </a:solidFill>
              </a:rPr>
              <a:t>Row sampling for variance reduction</a:t>
            </a:r>
            <a:endParaRPr lang="en-US" sz="780" dirty="0"/>
          </a:p>
        </p:txBody>
      </p:sp>
      <p:sp>
        <p:nvSpPr>
          <p:cNvPr id="28" name="Text 25"/>
          <p:cNvSpPr/>
          <p:nvPr/>
        </p:nvSpPr>
        <p:spPr>
          <a:xfrm>
            <a:off x="428625" y="3924709"/>
            <a:ext cx="197167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897B"/>
                </a:solidFill>
              </a:rPr>
              <a:t>colsample_bytree</a:t>
            </a:r>
            <a:endParaRPr lang="en-US" sz="734" dirty="0"/>
          </a:p>
        </p:txBody>
      </p:sp>
      <p:sp>
        <p:nvSpPr>
          <p:cNvPr id="29" name="Text 26"/>
          <p:cNvSpPr/>
          <p:nvPr/>
        </p:nvSpPr>
        <p:spPr>
          <a:xfrm>
            <a:off x="428625" y="4099731"/>
            <a:ext cx="197167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1A237E"/>
                </a:solidFill>
              </a:rPr>
              <a:t>0.8</a:t>
            </a:r>
            <a:endParaRPr lang="en-US" sz="834" dirty="0"/>
          </a:p>
        </p:txBody>
      </p:sp>
      <p:sp>
        <p:nvSpPr>
          <p:cNvPr id="30" name="Text 27"/>
          <p:cNvSpPr/>
          <p:nvPr/>
        </p:nvSpPr>
        <p:spPr>
          <a:xfrm>
            <a:off x="428625" y="4284018"/>
            <a:ext cx="1971675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555555"/>
                </a:solidFill>
              </a:rPr>
              <a:t>Column sampling for variance reduction</a:t>
            </a:r>
            <a:endParaRPr lang="en-US" sz="780" dirty="0"/>
          </a:p>
        </p:txBody>
      </p:sp>
      <p:sp>
        <p:nvSpPr>
          <p:cNvPr id="31" name="Text 28"/>
          <p:cNvSpPr/>
          <p:nvPr/>
        </p:nvSpPr>
        <p:spPr>
          <a:xfrm>
            <a:off x="2514600" y="3924709"/>
            <a:ext cx="197167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897B"/>
                </a:solidFill>
              </a:rPr>
              <a:t>reg_alpha</a:t>
            </a:r>
            <a:endParaRPr lang="en-US" sz="734" dirty="0"/>
          </a:p>
        </p:txBody>
      </p:sp>
      <p:sp>
        <p:nvSpPr>
          <p:cNvPr id="32" name="Text 29"/>
          <p:cNvSpPr/>
          <p:nvPr/>
        </p:nvSpPr>
        <p:spPr>
          <a:xfrm>
            <a:off x="2514600" y="4099731"/>
            <a:ext cx="197167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1A237E"/>
                </a:solidFill>
              </a:rPr>
              <a:t>0.1</a:t>
            </a:r>
            <a:endParaRPr lang="en-US" sz="834" dirty="0"/>
          </a:p>
        </p:txBody>
      </p:sp>
      <p:sp>
        <p:nvSpPr>
          <p:cNvPr id="33" name="Text 30"/>
          <p:cNvSpPr/>
          <p:nvPr/>
        </p:nvSpPr>
        <p:spPr>
          <a:xfrm>
            <a:off x="2514600" y="4284018"/>
            <a:ext cx="197167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555555"/>
                </a:solidFill>
              </a:rPr>
              <a:t>L1 regularization (Lasso)</a:t>
            </a:r>
            <a:endParaRPr lang="en-US" sz="780" dirty="0"/>
          </a:p>
        </p:txBody>
      </p:sp>
      <p:sp>
        <p:nvSpPr>
          <p:cNvPr id="34" name="Text 31"/>
          <p:cNvSpPr/>
          <p:nvPr/>
        </p:nvSpPr>
        <p:spPr>
          <a:xfrm>
            <a:off x="428625" y="4648349"/>
            <a:ext cx="1971675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00897B"/>
                </a:solidFill>
              </a:rPr>
              <a:t>reg_lambda</a:t>
            </a:r>
            <a:endParaRPr lang="en-US" sz="734" dirty="0"/>
          </a:p>
        </p:txBody>
      </p:sp>
      <p:sp>
        <p:nvSpPr>
          <p:cNvPr id="35" name="Text 32"/>
          <p:cNvSpPr/>
          <p:nvPr/>
        </p:nvSpPr>
        <p:spPr>
          <a:xfrm>
            <a:off x="428625" y="4823371"/>
            <a:ext cx="197167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1A237E"/>
                </a:solidFill>
              </a:rPr>
              <a:t>1.0</a:t>
            </a:r>
            <a:endParaRPr lang="en-US" sz="834" dirty="0"/>
          </a:p>
        </p:txBody>
      </p:sp>
      <p:sp>
        <p:nvSpPr>
          <p:cNvPr id="36" name="Text 33"/>
          <p:cNvSpPr/>
          <p:nvPr/>
        </p:nvSpPr>
        <p:spPr>
          <a:xfrm>
            <a:off x="428625" y="5007657"/>
            <a:ext cx="1971675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555555"/>
                </a:solidFill>
              </a:rPr>
              <a:t>L2 regularization (Ridge)</a:t>
            </a:r>
            <a:endParaRPr lang="en-US" sz="780" dirty="0"/>
          </a:p>
        </p:txBody>
      </p:sp>
      <p:sp>
        <p:nvSpPr>
          <p:cNvPr id="37" name="Shape 34"/>
          <p:cNvSpPr/>
          <p:nvPr/>
        </p:nvSpPr>
        <p:spPr>
          <a:xfrm>
            <a:off x="4657725" y="2947467"/>
            <a:ext cx="4057650" cy="307181"/>
          </a:xfrm>
          <a:prstGeom prst="rect">
            <a:avLst/>
          </a:prstGeom>
          <a:solidFill>
            <a:srgbClr val="D84315"/>
          </a:solidFill>
          <a:ln/>
        </p:spPr>
      </p:sp>
      <p:sp>
        <p:nvSpPr>
          <p:cNvPr id="38" name="Text 35"/>
          <p:cNvSpPr/>
          <p:nvPr/>
        </p:nvSpPr>
        <p:spPr>
          <a:xfrm>
            <a:off x="4657725" y="2947467"/>
            <a:ext cx="4057650" cy="307181"/>
          </a:xfrm>
          <a:prstGeom prst="rect">
            <a:avLst/>
          </a:prstGeom>
          <a:noFill/>
          <a:ln/>
        </p:spPr>
        <p:txBody>
          <a:bodyPr wrap="square" lIns="102108" tIns="68072" rIns="102108" bIns="68072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Training Methodology</a:t>
            </a:r>
            <a:endParaRPr lang="en-US" sz="885" dirty="0"/>
          </a:p>
        </p:txBody>
      </p:sp>
      <p:sp>
        <p:nvSpPr>
          <p:cNvPr id="39" name="Text 36"/>
          <p:cNvSpPr/>
          <p:nvPr/>
        </p:nvSpPr>
        <p:spPr>
          <a:xfrm>
            <a:off x="4657725" y="3340373"/>
            <a:ext cx="405765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263238"/>
                </a:solidFill>
              </a:rPr>
              <a:t>12-month rolling window</a:t>
            </a:r>
            <a:endParaRPr lang="en-US" sz="784" dirty="0"/>
          </a:p>
        </p:txBody>
      </p:sp>
      <p:sp>
        <p:nvSpPr>
          <p:cNvPr id="40" name="Text 37"/>
          <p:cNvSpPr/>
          <p:nvPr/>
        </p:nvSpPr>
        <p:spPr>
          <a:xfrm>
            <a:off x="4657725" y="3500382"/>
            <a:ext cx="405765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263238"/>
                </a:solidFill>
              </a:rPr>
              <a:t>No validation set</a:t>
            </a:r>
            <a:endParaRPr lang="en-US" sz="784" dirty="0"/>
          </a:p>
        </p:txBody>
      </p:sp>
      <p:sp>
        <p:nvSpPr>
          <p:cNvPr id="41" name="Text 38"/>
          <p:cNvSpPr/>
          <p:nvPr/>
        </p:nvSpPr>
        <p:spPr>
          <a:xfrm>
            <a:off x="4657725" y="3660391"/>
            <a:ext cx="4057650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263238"/>
                </a:solidFill>
              </a:rPr>
              <a:t>No early stopping</a:t>
            </a:r>
            <a:endParaRPr lang="en-US" sz="784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1014413"/>
          </a:xfrm>
          <a:prstGeom prst="rect">
            <a:avLst/>
          </a:prstGeom>
          <a:noFill/>
          <a:ln/>
        </p:spPr>
        <p:txBody>
          <a:bodyPr wrap="square" lIns="510286" tIns="425196" rIns="510286" bIns="340233" rtlCol="0" anchor="t">
            <a:spAutoFit/>
          </a:bodyPr>
          <a:lstStyle/>
          <a:p>
            <a:pPr algn="l" indent="0" marL="0">
              <a:lnSpc>
                <a:spcPts val="2900"/>
              </a:lnSpc>
              <a:buNone/>
            </a:pPr>
            <a:r>
              <a:rPr lang="en-US" sz="2016" b="1" dirty="0">
                <a:solidFill>
                  <a:srgbClr val="1A237E"/>
                </a:solidFill>
              </a:rPr>
              <a:t>AI Code Editors: The Rise of VS Code Forks</a:t>
            </a:r>
            <a:endParaRPr lang="en-US" sz="2016" dirty="0"/>
          </a:p>
        </p:txBody>
      </p:sp>
      <p:sp>
        <p:nvSpPr>
          <p:cNvPr id="4" name="Shape 1"/>
          <p:cNvSpPr/>
          <p:nvPr/>
        </p:nvSpPr>
        <p:spPr>
          <a:xfrm>
            <a:off x="428625" y="1360884"/>
            <a:ext cx="5161945" cy="385763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1360884"/>
            <a:ext cx="5161945" cy="385763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Cursor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428625" y="1875234"/>
            <a:ext cx="5161945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263238"/>
                </a:solidFill>
              </a:rPr>
              <a:t>Fork of VS Code by </a:t>
            </a:r>
            <a:pPr algn="l" indent="0" marL="0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1A237E"/>
                </a:solidFill>
              </a:rPr>
              <a:t>Anysphere Inc.</a:t>
            </a:r>
            <a:pPr algn="l" indent="0" marL="0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263238"/>
                </a:solidFill>
              </a:rPr>
              <a:t> (San Francisco)</a:t>
            </a:r>
            <a:endParaRPr lang="en-US" sz="834" dirty="0"/>
          </a:p>
        </p:txBody>
      </p:sp>
      <p:sp>
        <p:nvSpPr>
          <p:cNvPr id="7" name="Text 4"/>
          <p:cNvSpPr/>
          <p:nvPr/>
        </p:nvSpPr>
        <p:spPr>
          <a:xfrm>
            <a:off x="428625" y="2143125"/>
            <a:ext cx="5161945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555555"/>
                </a:solidFill>
              </a:rPr>
              <a:t>Launched:</a:t>
            </a:r>
            <a:pPr algn="l" indent="0" marL="0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1A237E"/>
                </a:solidFill>
              </a:rPr>
              <a:t>March 2023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428625" y="2411016"/>
            <a:ext cx="5161945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555555"/>
                </a:solidFill>
              </a:rPr>
              <a:t>First Stable Release (v1.0):</a:t>
            </a:r>
            <a:pPr algn="l" indent="0" marL="0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1A237E"/>
                </a:solidFill>
              </a:rPr>
              <a:t>June 2025</a:t>
            </a:r>
            <a:endParaRPr lang="en-US" sz="780" dirty="0"/>
          </a:p>
        </p:txBody>
      </p:sp>
      <p:sp>
        <p:nvSpPr>
          <p:cNvPr id="9" name="Text 6"/>
          <p:cNvSpPr/>
          <p:nvPr/>
        </p:nvSpPr>
        <p:spPr>
          <a:xfrm>
            <a:off x="428625" y="2678906"/>
            <a:ext cx="516194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897B"/>
                </a:solidFill>
              </a:rPr>
              <a:t>🔗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00897B"/>
                </a:solidFill>
              </a:rPr>
              <a:t>cursor.com</a:t>
            </a:r>
            <a:endParaRPr lang="en-US" sz="784" dirty="0"/>
          </a:p>
        </p:txBody>
      </p:sp>
      <p:sp>
        <p:nvSpPr>
          <p:cNvPr id="10" name="Shape 7"/>
          <p:cNvSpPr/>
          <p:nvPr/>
        </p:nvSpPr>
        <p:spPr>
          <a:xfrm>
            <a:off x="428625" y="3078956"/>
            <a:ext cx="5161945" cy="385763"/>
          </a:xfrm>
          <a:prstGeom prst="rect">
            <a:avLst/>
          </a:prstGeom>
          <a:solidFill>
            <a:srgbClr val="D84315"/>
          </a:solidFill>
          <a:ln/>
        </p:spPr>
      </p:sp>
      <p:sp>
        <p:nvSpPr>
          <p:cNvPr id="11" name="Text 8"/>
          <p:cNvSpPr/>
          <p:nvPr/>
        </p:nvSpPr>
        <p:spPr>
          <a:xfrm>
            <a:off x="428625" y="3078956"/>
            <a:ext cx="5161945" cy="385763"/>
          </a:xfrm>
          <a:prstGeom prst="rect">
            <a:avLst/>
          </a:prstGeom>
          <a:noFill/>
          <a:ln/>
        </p:spPr>
        <p:txBody>
          <a:bodyPr wrap="square" lIns="136017" tIns="102108" rIns="136017" bIns="102108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Windsurf</a:t>
            </a:r>
            <a:endParaRPr lang="en-US" sz="987" dirty="0"/>
          </a:p>
        </p:txBody>
      </p:sp>
      <p:sp>
        <p:nvSpPr>
          <p:cNvPr id="12" name="Text 9"/>
          <p:cNvSpPr/>
          <p:nvPr/>
        </p:nvSpPr>
        <p:spPr>
          <a:xfrm>
            <a:off x="428625" y="3593306"/>
            <a:ext cx="5161945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263238"/>
                </a:solidFill>
              </a:rPr>
              <a:t>Fork of VS Code by </a:t>
            </a:r>
            <a:pPr algn="l" indent="0" marL="0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1A237E"/>
                </a:solidFill>
              </a:rPr>
              <a:t>Codeium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428625" y="3861197"/>
            <a:ext cx="5161945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0" dirty="0">
                <a:solidFill>
                  <a:srgbClr val="555555"/>
                </a:solidFill>
              </a:rPr>
              <a:t>Launched:</a:t>
            </a:r>
            <a:pPr algn="l" indent="0" marL="0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1A237E"/>
                </a:solidFill>
              </a:rPr>
              <a:t>November 13, 2024</a:t>
            </a:r>
            <a:endParaRPr lang="en-US" sz="780" dirty="0"/>
          </a:p>
        </p:txBody>
      </p:sp>
      <p:sp>
        <p:nvSpPr>
          <p:cNvPr id="14" name="Text 11"/>
          <p:cNvSpPr/>
          <p:nvPr/>
        </p:nvSpPr>
        <p:spPr>
          <a:xfrm>
            <a:off x="428625" y="4129088"/>
            <a:ext cx="5161945" cy="18216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263238"/>
                </a:solidFill>
              </a:rPr>
              <a:t>Branded as </a:t>
            </a:r>
            <a:pPr algn="l" indent="0" marL="0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1A237E"/>
                </a:solidFill>
              </a:rPr>
              <a:t>"agentic IDE"</a:t>
            </a:r>
            <a:pPr algn="l" indent="0" marL="0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263238"/>
                </a:solidFill>
              </a:rPr>
              <a:t> with AI Flows for autonomous code generation</a:t>
            </a:r>
            <a:endParaRPr lang="en-US" sz="834" dirty="0"/>
          </a:p>
        </p:txBody>
      </p:sp>
      <p:sp>
        <p:nvSpPr>
          <p:cNvPr id="15" name="Text 12"/>
          <p:cNvSpPr/>
          <p:nvPr/>
        </p:nvSpPr>
        <p:spPr>
          <a:xfrm>
            <a:off x="428625" y="4396978"/>
            <a:ext cx="516194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D84315"/>
                </a:solidFill>
              </a:rPr>
              <a:t>🔗 </a:t>
            </a:r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D84315"/>
                </a:solidFill>
              </a:rPr>
              <a:t>windsurf.com</a:t>
            </a:r>
            <a:endParaRPr lang="en-US" sz="784" dirty="0"/>
          </a:p>
        </p:txBody>
      </p:sp>
      <p:sp>
        <p:nvSpPr>
          <p:cNvPr id="16" name="Shape 13"/>
          <p:cNvSpPr/>
          <p:nvPr/>
        </p:nvSpPr>
        <p:spPr>
          <a:xfrm>
            <a:off x="5938521" y="1935956"/>
            <a:ext cx="2714625" cy="2286000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8521" y="1935956"/>
            <a:ext cx="2714625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828675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016" b="1" dirty="0">
                <a:solidFill>
                  <a:srgbClr val="1A237E"/>
                </a:solidFill>
              </a:rPr>
              <a:t>Google's Strategic Acqui-Hire of Windsurf</a:t>
            </a:r>
            <a:endParaRPr lang="en-US" sz="2016" dirty="0"/>
          </a:p>
        </p:txBody>
      </p:sp>
      <p:sp>
        <p:nvSpPr>
          <p:cNvPr id="4" name="Shape 1"/>
          <p:cNvSpPr/>
          <p:nvPr/>
        </p:nvSpPr>
        <p:spPr>
          <a:xfrm>
            <a:off x="428625" y="1143000"/>
            <a:ext cx="4000500" cy="357188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1143000"/>
            <a:ext cx="4000500" cy="357188"/>
          </a:xfrm>
          <a:prstGeom prst="rect">
            <a:avLst/>
          </a:prstGeom>
          <a:noFill/>
          <a:ln/>
        </p:spPr>
        <p:txBody>
          <a:bodyPr wrap="square" lIns="136017" tIns="85090" rIns="136017" bIns="8509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Timeline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571500" y="1614488"/>
            <a:ext cx="3857625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Initial Offer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571500" y="1777343"/>
            <a:ext cx="385762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263238"/>
                </a:solidFill>
              </a:rPr>
              <a:t>OpenAI offered </a:t>
            </a:r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D84315"/>
                </a:solidFill>
              </a:rPr>
              <a:t>$3 billion</a:t>
            </a:r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263238"/>
                </a:solidFill>
              </a:rPr>
              <a:t> to acquire Windsurf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571500" y="2057400"/>
            <a:ext cx="3857625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July 11, 2025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571500" y="2220255"/>
            <a:ext cx="385762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263238"/>
                </a:solidFill>
              </a:rPr>
              <a:t>Exclusivity period expired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571500" y="2500313"/>
            <a:ext cx="3857625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Post-Expiration</a:t>
            </a:r>
            <a:endParaRPr lang="en-US" sz="784" dirty="0"/>
          </a:p>
        </p:txBody>
      </p:sp>
      <p:sp>
        <p:nvSpPr>
          <p:cNvPr id="11" name="Text 8"/>
          <p:cNvSpPr/>
          <p:nvPr/>
        </p:nvSpPr>
        <p:spPr>
          <a:xfrm>
            <a:off x="571500" y="2663168"/>
            <a:ext cx="385762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263238"/>
                </a:solidFill>
              </a:rPr>
              <a:t>Google executed </a:t>
            </a:r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D84315"/>
                </a:solidFill>
              </a:rPr>
              <a:t>$2.4B</a:t>
            </a:r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263238"/>
                </a:solidFill>
              </a:rPr>
              <a:t> "reverse acqui-hire" + licensing deal</a:t>
            </a:r>
            <a:endParaRPr lang="en-US" sz="834" dirty="0"/>
          </a:p>
        </p:txBody>
      </p:sp>
      <p:sp>
        <p:nvSpPr>
          <p:cNvPr id="12" name="Text 9"/>
          <p:cNvSpPr/>
          <p:nvPr/>
        </p:nvSpPr>
        <p:spPr>
          <a:xfrm>
            <a:off x="571500" y="2943225"/>
            <a:ext cx="3857625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Key Appointments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571500" y="3106080"/>
            <a:ext cx="3857625" cy="3399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263238"/>
                </a:solidFill>
              </a:rPr>
              <a:t>CEO Varun Mohan and co-founder Douglas Chen joined Google DeepMind</a:t>
            </a:r>
            <a:endParaRPr lang="en-US" sz="834" dirty="0"/>
          </a:p>
        </p:txBody>
      </p:sp>
      <p:sp>
        <p:nvSpPr>
          <p:cNvPr id="14" name="Text 11"/>
          <p:cNvSpPr/>
          <p:nvPr/>
        </p:nvSpPr>
        <p:spPr>
          <a:xfrm>
            <a:off x="571500" y="3546091"/>
            <a:ext cx="3857625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84" b="1" dirty="0">
                <a:solidFill>
                  <a:srgbClr val="1A237E"/>
                </a:solidFill>
              </a:rPr>
              <a:t>Remaining Assets</a:t>
            </a:r>
            <a:endParaRPr lang="en-US" sz="784" dirty="0"/>
          </a:p>
        </p:txBody>
      </p:sp>
      <p:sp>
        <p:nvSpPr>
          <p:cNvPr id="15" name="Text 12"/>
          <p:cNvSpPr/>
          <p:nvPr/>
        </p:nvSpPr>
        <p:spPr>
          <a:xfrm>
            <a:off x="571500" y="3708946"/>
            <a:ext cx="3857625" cy="16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b="1" dirty="0">
                <a:solidFill>
                  <a:srgbClr val="263238"/>
                </a:solidFill>
              </a:rPr>
              <a:t>Google received non-exclusive license to Windsurf's AI technology</a:t>
            </a:r>
            <a:endParaRPr lang="en-US" sz="834" dirty="0"/>
          </a:p>
        </p:txBody>
      </p:sp>
      <p:sp>
        <p:nvSpPr>
          <p:cNvPr id="16" name="Shape 13"/>
          <p:cNvSpPr/>
          <p:nvPr/>
        </p:nvSpPr>
        <p:spPr>
          <a:xfrm>
            <a:off x="4714875" y="1143000"/>
            <a:ext cx="4000500" cy="357188"/>
          </a:xfrm>
          <a:prstGeom prst="rect">
            <a:avLst/>
          </a:prstGeom>
          <a:solidFill>
            <a:srgbClr val="D84315"/>
          </a:solidFill>
          <a:ln/>
        </p:spPr>
      </p:sp>
      <p:sp>
        <p:nvSpPr>
          <p:cNvPr id="17" name="Text 14"/>
          <p:cNvSpPr/>
          <p:nvPr/>
        </p:nvSpPr>
        <p:spPr>
          <a:xfrm>
            <a:off x="4714875" y="1143000"/>
            <a:ext cx="4000500" cy="357188"/>
          </a:xfrm>
          <a:prstGeom prst="rect">
            <a:avLst/>
          </a:prstGeom>
          <a:noFill/>
          <a:ln/>
        </p:spPr>
        <p:txBody>
          <a:bodyPr wrap="square" lIns="136017" tIns="85090" rIns="136017" bIns="8509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FFFFFF"/>
                </a:solidFill>
              </a:rPr>
              <a:t>Why OpenAI's Deal Collapsed</a:t>
            </a:r>
            <a:endParaRPr lang="en-US" sz="987" dirty="0"/>
          </a:p>
        </p:txBody>
      </p:sp>
      <p:sp>
        <p:nvSpPr>
          <p:cNvPr id="18" name="Text 15"/>
          <p:cNvSpPr/>
          <p:nvPr/>
        </p:nvSpPr>
        <p:spPr>
          <a:xfrm>
            <a:off x="4714875" y="1614488"/>
            <a:ext cx="4000500" cy="352165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1A237E"/>
                </a:solidFill>
              </a:rPr>
              <a:t>Microsoft's IP Rights:</a:t>
            </a:r>
            <a:pPr algn="l" indent="0" marL="0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263238"/>
                </a:solidFill>
              </a:rPr>
              <a:t> Microsoft (OpenAI's largest investor) has </a:t>
            </a:r>
            <a:pPr algn="l" indent="0" marL="0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263238"/>
                </a:solidFill>
              </a:rPr>
              <a:t>rights to OpenAI's acquired intellectual property</a:t>
            </a:r>
            <a:endParaRPr lang="en-US" sz="834" dirty="0"/>
          </a:p>
        </p:txBody>
      </p:sp>
      <p:sp>
        <p:nvSpPr>
          <p:cNvPr id="19" name="Text 16"/>
          <p:cNvSpPr/>
          <p:nvPr/>
        </p:nvSpPr>
        <p:spPr>
          <a:xfrm>
            <a:off x="4714875" y="2052377"/>
            <a:ext cx="4000500" cy="352165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1A237E"/>
                </a:solidFill>
              </a:rPr>
              <a:t>Privacy Concerns:</a:t>
            </a:r>
            <a:pPr algn="l" indent="0" marL="0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263238"/>
                </a:solidFill>
              </a:rPr>
              <a:t> OpenAI wanted to keep Windsurf technology </a:t>
            </a:r>
            <a:pPr algn="l" indent="0" marL="0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263238"/>
                </a:solidFill>
              </a:rPr>
              <a:t>private from Microsoft</a:t>
            </a:r>
            <a:endParaRPr lang="en-US" sz="834" dirty="0"/>
          </a:p>
        </p:txBody>
      </p:sp>
      <p:sp>
        <p:nvSpPr>
          <p:cNvPr id="20" name="Text 17"/>
          <p:cNvSpPr/>
          <p:nvPr/>
        </p:nvSpPr>
        <p:spPr>
          <a:xfrm>
            <a:off x="4714875" y="2490267"/>
            <a:ext cx="4000500" cy="352165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1A237E"/>
                </a:solidFill>
              </a:rPr>
              <a:t>Microsoft's Refusal:</a:t>
            </a:r>
            <a:pPr algn="l" indent="0" marL="0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263238"/>
                </a:solidFill>
              </a:rPr>
              <a:t> Microsoft refused to allow the acquisition </a:t>
            </a:r>
            <a:pPr algn="l" indent="0" marL="0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263238"/>
                </a:solidFill>
              </a:rPr>
              <a:t>without sharing the technology</a:t>
            </a:r>
            <a:endParaRPr lang="en-US" sz="834" dirty="0"/>
          </a:p>
        </p:txBody>
      </p:sp>
      <p:sp>
        <p:nvSpPr>
          <p:cNvPr id="21" name="Text 18"/>
          <p:cNvSpPr/>
          <p:nvPr/>
        </p:nvSpPr>
        <p:spPr>
          <a:xfrm>
            <a:off x="4714875" y="2928156"/>
            <a:ext cx="4000500" cy="352165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1A237E"/>
                </a:solidFill>
              </a:rPr>
              <a:t>Deal Collapse:</a:t>
            </a:r>
            <a:pPr algn="l" indent="0" marL="0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263238"/>
                </a:solidFill>
              </a:rPr>
              <a:t> When exclusivity period expired on July 11, 2025, </a:t>
            </a:r>
            <a:pPr algn="l" indent="0" marL="0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263238"/>
                </a:solidFill>
              </a:rPr>
              <a:t>the deal collapsed entirely</a:t>
            </a:r>
            <a:endParaRPr lang="en-US" sz="834" dirty="0"/>
          </a:p>
        </p:txBody>
      </p:sp>
      <p:sp>
        <p:nvSpPr>
          <p:cNvPr id="22" name="Text 19"/>
          <p:cNvSpPr/>
          <p:nvPr/>
        </p:nvSpPr>
        <p:spPr>
          <a:xfrm>
            <a:off x="4714875" y="3366046"/>
            <a:ext cx="4000500" cy="352165"/>
          </a:xfrm>
          <a:prstGeom prst="rect">
            <a:avLst/>
          </a:prstGeom>
          <a:noFill/>
          <a:ln/>
        </p:spPr>
        <p:txBody>
          <a:bodyPr wrap="square" lIns="153035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1A237E"/>
                </a:solidFill>
              </a:rPr>
              <a:t>Cognition Acquisition:</a:t>
            </a:r>
            <a:pPr algn="l" indent="0" marL="0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263238"/>
                </a:solidFill>
              </a:rPr>
              <a:t> Cognition later acquired the remaining </a:t>
            </a:r>
            <a:pPr algn="l" indent="0" marL="0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263238"/>
                </a:solidFill>
              </a:rPr>
              <a:t>Windsurf assets for </a:t>
            </a:r>
            <a:pPr algn="l" indent="0" marL="0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D84315"/>
                </a:solidFill>
              </a:rPr>
              <a:t>$250M</a:t>
            </a:r>
            <a:endParaRPr lang="en-US" sz="834" dirty="0"/>
          </a:p>
        </p:txBody>
      </p:sp>
      <p:sp>
        <p:nvSpPr>
          <p:cNvPr id="23" name="Text 20"/>
          <p:cNvSpPr/>
          <p:nvPr/>
        </p:nvSpPr>
        <p:spPr>
          <a:xfrm>
            <a:off x="4714875" y="1614488"/>
            <a:ext cx="60722" cy="1760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D84315"/>
                </a:solidFill>
              </a:rPr>
              <a:t>▸</a:t>
            </a:r>
            <a:endParaRPr lang="en-US" sz="834" dirty="0"/>
          </a:p>
        </p:txBody>
      </p:sp>
      <p:sp>
        <p:nvSpPr>
          <p:cNvPr id="24" name="Text 21"/>
          <p:cNvSpPr/>
          <p:nvPr/>
        </p:nvSpPr>
        <p:spPr>
          <a:xfrm>
            <a:off x="4714875" y="2052377"/>
            <a:ext cx="60722" cy="1760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D84315"/>
                </a:solidFill>
              </a:rPr>
              <a:t>▸</a:t>
            </a:r>
            <a:endParaRPr lang="en-US" sz="834" dirty="0"/>
          </a:p>
        </p:txBody>
      </p:sp>
      <p:sp>
        <p:nvSpPr>
          <p:cNvPr id="25" name="Text 22"/>
          <p:cNvSpPr/>
          <p:nvPr/>
        </p:nvSpPr>
        <p:spPr>
          <a:xfrm>
            <a:off x="4714875" y="2490267"/>
            <a:ext cx="60722" cy="1760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D84315"/>
                </a:solidFill>
              </a:rPr>
              <a:t>▸</a:t>
            </a:r>
            <a:endParaRPr lang="en-US" sz="834" dirty="0"/>
          </a:p>
        </p:txBody>
      </p:sp>
      <p:sp>
        <p:nvSpPr>
          <p:cNvPr id="26" name="Text 23"/>
          <p:cNvSpPr/>
          <p:nvPr/>
        </p:nvSpPr>
        <p:spPr>
          <a:xfrm>
            <a:off x="4714875" y="2928156"/>
            <a:ext cx="60722" cy="1760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D84315"/>
                </a:solidFill>
              </a:rPr>
              <a:t>▸</a:t>
            </a:r>
            <a:endParaRPr lang="en-US" sz="834" dirty="0"/>
          </a:p>
        </p:txBody>
      </p:sp>
      <p:sp>
        <p:nvSpPr>
          <p:cNvPr id="27" name="Text 24"/>
          <p:cNvSpPr/>
          <p:nvPr/>
        </p:nvSpPr>
        <p:spPr>
          <a:xfrm>
            <a:off x="4714875" y="3366046"/>
            <a:ext cx="60722" cy="1760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b="1" dirty="0">
                <a:solidFill>
                  <a:srgbClr val="D84315"/>
                </a:solidFill>
              </a:rPr>
              <a:t>▸</a:t>
            </a:r>
            <a:endParaRPr lang="en-US" sz="834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977243"/>
          </a:xfrm>
          <a:prstGeom prst="rect">
            <a:avLst/>
          </a:prstGeom>
          <a:noFill/>
          <a:ln/>
        </p:spPr>
        <p:txBody>
          <a:bodyPr wrap="square" lIns="510286" tIns="425196" rIns="510286" bIns="340233" rtlCol="0" anchor="t">
            <a:sp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808" b="1" dirty="0">
                <a:solidFill>
                  <a:srgbClr val="1A237E"/>
                </a:solidFill>
              </a:rPr>
              <a:t>Introducing Google Antigravity: The Agent-First IDE</a:t>
            </a:r>
            <a:endParaRPr lang="en-US" sz="1808" dirty="0"/>
          </a:p>
        </p:txBody>
      </p:sp>
      <p:sp>
        <p:nvSpPr>
          <p:cNvPr id="4" name="Shape 1"/>
          <p:cNvSpPr/>
          <p:nvPr/>
        </p:nvSpPr>
        <p:spPr>
          <a:xfrm>
            <a:off x="428625" y="977243"/>
            <a:ext cx="5161945" cy="335756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977243"/>
            <a:ext cx="5161945" cy="335756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Release</a:t>
            </a: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428625" y="1398724"/>
            <a:ext cx="5161945" cy="194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34" b="1" dirty="0">
                <a:solidFill>
                  <a:srgbClr val="1A237E"/>
                </a:solidFill>
              </a:rPr>
              <a:t>Announced:</a:t>
            </a:r>
            <a:pPr algn="l" indent="0" marL="0">
              <a:lnSpc>
                <a:spcPts val="1500"/>
              </a:lnSpc>
              <a:buNone/>
            </a:pPr>
            <a:r>
              <a:rPr lang="en-US" sz="834" b="1" dirty="0">
                <a:solidFill>
                  <a:srgbClr val="263238"/>
                </a:solidFill>
              </a:rPr>
              <a:t> November 18, 2025 (alongside Gemini 3)</a:t>
            </a:r>
            <a:endParaRPr lang="en-US" sz="834" dirty="0"/>
          </a:p>
        </p:txBody>
      </p:sp>
      <p:sp>
        <p:nvSpPr>
          <p:cNvPr id="7" name="Text 4"/>
          <p:cNvSpPr/>
          <p:nvPr/>
        </p:nvSpPr>
        <p:spPr>
          <a:xfrm>
            <a:off x="428625" y="1650178"/>
            <a:ext cx="5161945" cy="194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34" b="1" dirty="0">
                <a:solidFill>
                  <a:srgbClr val="1A237E"/>
                </a:solidFill>
              </a:rPr>
              <a:t>Availability:</a:t>
            </a:r>
            <a:pPr algn="l" indent="0" marL="0">
              <a:lnSpc>
                <a:spcPts val="1500"/>
              </a:lnSpc>
              <a:buNone/>
            </a:pPr>
            <a:r>
              <a:rPr lang="en-US" sz="834" b="1" dirty="0">
                <a:solidFill>
                  <a:srgbClr val="263238"/>
                </a:solidFill>
              </a:rPr>
              <a:t> Free public preview available immediately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428625" y="1901633"/>
            <a:ext cx="5161945" cy="19430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34" b="1" dirty="0">
                <a:solidFill>
                  <a:srgbClr val="1A237E"/>
                </a:solidFill>
              </a:rPr>
              <a:t>Platforms:</a:t>
            </a:r>
            <a:pPr algn="l" indent="0" marL="0">
              <a:lnSpc>
                <a:spcPts val="1500"/>
              </a:lnSpc>
              <a:buNone/>
            </a:pPr>
            <a:r>
              <a:rPr lang="en-US" sz="834" b="1" dirty="0">
                <a:solidFill>
                  <a:srgbClr val="263238"/>
                </a:solidFill>
              </a:rPr>
              <a:t> Windows, macOS, and Linux</a:t>
            </a:r>
            <a:endParaRPr lang="en-US" sz="834" dirty="0"/>
          </a:p>
        </p:txBody>
      </p:sp>
      <p:sp>
        <p:nvSpPr>
          <p:cNvPr id="9" name="Shape 6"/>
          <p:cNvSpPr/>
          <p:nvPr/>
        </p:nvSpPr>
        <p:spPr>
          <a:xfrm>
            <a:off x="428625" y="2295962"/>
            <a:ext cx="5161945" cy="335756"/>
          </a:xfrm>
          <a:prstGeom prst="rect">
            <a:avLst/>
          </a:prstGeom>
          <a:solidFill>
            <a:srgbClr val="D84315"/>
          </a:solidFill>
          <a:ln/>
        </p:spPr>
      </p:sp>
      <p:sp>
        <p:nvSpPr>
          <p:cNvPr id="10" name="Text 7"/>
          <p:cNvSpPr/>
          <p:nvPr/>
        </p:nvSpPr>
        <p:spPr>
          <a:xfrm>
            <a:off x="428625" y="2295962"/>
            <a:ext cx="5161945" cy="335756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Features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428625" y="2717443"/>
            <a:ext cx="5161945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263238"/>
                </a:solidFill>
              </a:rPr>
              <a:t>Fork of VS Code with agent-first interface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428625" y="2948890"/>
            <a:ext cx="5161945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263238"/>
                </a:solidFill>
              </a:rPr>
              <a:t>Powered by Gemini 3 (also supports Claude Sonnet 4.5)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428625" y="3180336"/>
            <a:ext cx="5161945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263238"/>
                </a:solidFill>
              </a:rPr>
              <a:t>Autonomous agents for planning, executing, and verifying tasks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428625" y="3411782"/>
            <a:ext cx="5161945" cy="16000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263238"/>
                </a:solidFill>
              </a:rPr>
              <a:t>Integrates editor, terminal, and browser into unified experience</a:t>
            </a:r>
            <a:endParaRPr lang="en-US" sz="784" dirty="0"/>
          </a:p>
        </p:txBody>
      </p:sp>
      <p:sp>
        <p:nvSpPr>
          <p:cNvPr id="15" name="Text 12"/>
          <p:cNvSpPr/>
          <p:nvPr/>
        </p:nvSpPr>
        <p:spPr>
          <a:xfrm>
            <a:off x="428625" y="2717443"/>
            <a:ext cx="57150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D84315"/>
                </a:solidFill>
              </a:rPr>
              <a:t>▸</a:t>
            </a:r>
            <a:endParaRPr lang="en-US" sz="784" dirty="0"/>
          </a:p>
        </p:txBody>
      </p:sp>
      <p:sp>
        <p:nvSpPr>
          <p:cNvPr id="16" name="Text 13"/>
          <p:cNvSpPr/>
          <p:nvPr/>
        </p:nvSpPr>
        <p:spPr>
          <a:xfrm>
            <a:off x="428625" y="2948890"/>
            <a:ext cx="57150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D84315"/>
                </a:solidFill>
              </a:rPr>
              <a:t>▸</a:t>
            </a:r>
            <a:endParaRPr lang="en-US" sz="784" dirty="0"/>
          </a:p>
        </p:txBody>
      </p:sp>
      <p:sp>
        <p:nvSpPr>
          <p:cNvPr id="17" name="Text 14"/>
          <p:cNvSpPr/>
          <p:nvPr/>
        </p:nvSpPr>
        <p:spPr>
          <a:xfrm>
            <a:off x="428625" y="3180336"/>
            <a:ext cx="57150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D84315"/>
                </a:solidFill>
              </a:rPr>
              <a:t>▸</a:t>
            </a:r>
            <a:endParaRPr lang="en-US" sz="784" dirty="0"/>
          </a:p>
        </p:txBody>
      </p:sp>
      <p:sp>
        <p:nvSpPr>
          <p:cNvPr id="18" name="Text 15"/>
          <p:cNvSpPr/>
          <p:nvPr/>
        </p:nvSpPr>
        <p:spPr>
          <a:xfrm>
            <a:off x="428625" y="3411782"/>
            <a:ext cx="57150" cy="1599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D84315"/>
                </a:solidFill>
              </a:rPr>
              <a:t>▸</a:t>
            </a:r>
            <a:endParaRPr lang="en-US" sz="784" dirty="0"/>
          </a:p>
        </p:txBody>
      </p:sp>
      <p:sp>
        <p:nvSpPr>
          <p:cNvPr id="19" name="Shape 16"/>
          <p:cNvSpPr/>
          <p:nvPr/>
        </p:nvSpPr>
        <p:spPr>
          <a:xfrm>
            <a:off x="428625" y="3771816"/>
            <a:ext cx="5161945" cy="335756"/>
          </a:xfrm>
          <a:prstGeom prst="rect">
            <a:avLst/>
          </a:prstGeom>
          <a:solidFill>
            <a:srgbClr val="00897B"/>
          </a:solidFill>
          <a:ln/>
        </p:spPr>
      </p:sp>
      <p:sp>
        <p:nvSpPr>
          <p:cNvPr id="20" name="Text 17"/>
          <p:cNvSpPr/>
          <p:nvPr/>
        </p:nvSpPr>
        <p:spPr>
          <a:xfrm>
            <a:off x="428625" y="3771816"/>
            <a:ext cx="5161945" cy="335756"/>
          </a:xfrm>
          <a:prstGeom prst="rect">
            <a:avLst/>
          </a:prstGeom>
          <a:noFill/>
          <a:ln/>
        </p:spPr>
        <p:txBody>
          <a:bodyPr wrap="square" lIns="119126" tIns="85090" rIns="119126" bIns="8509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Download</a:t>
            </a:r>
            <a:endParaRPr lang="en-US" sz="885" dirty="0"/>
          </a:p>
        </p:txBody>
      </p:sp>
      <p:sp>
        <p:nvSpPr>
          <p:cNvPr id="21" name="Text 18"/>
          <p:cNvSpPr/>
          <p:nvPr/>
        </p:nvSpPr>
        <p:spPr>
          <a:xfrm>
            <a:off x="428625" y="4207585"/>
            <a:ext cx="181747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85" b="1" dirty="0">
                <a:solidFill>
                  <a:srgbClr val="00897B"/>
                </a:solidFill>
              </a:rPr>
              <a:t>antigravity.google/download</a:t>
            </a:r>
            <a:endParaRPr lang="en-US" sz="885" dirty="0"/>
          </a:p>
        </p:txBody>
      </p:sp>
      <p:sp>
        <p:nvSpPr>
          <p:cNvPr id="22" name="Shape 19"/>
          <p:cNvSpPr/>
          <p:nvPr/>
        </p:nvSpPr>
        <p:spPr>
          <a:xfrm>
            <a:off x="5938521" y="1645127"/>
            <a:ext cx="2714625" cy="2286000"/>
          </a:xfrm>
          <a:prstGeom prst="rect">
            <a:avLst/>
          </a:prstGeom>
          <a:solidFill>
            <a:srgbClr val="F5F5F5"/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8521" y="1645127"/>
            <a:ext cx="2714625" cy="228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2025-11-24T20:01:30Z</dcterms:created>
  <dcterms:modified xsi:type="dcterms:W3CDTF">2025-11-24T20:01:30Z</dcterms:modified>
</cp:coreProperties>
</file>